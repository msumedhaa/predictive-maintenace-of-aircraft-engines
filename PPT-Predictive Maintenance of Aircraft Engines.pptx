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y="5143500" cx="9144000"/>
  <p:notesSz cx="6858000" cy="9144000"/>
  <p:embeddedFontLst>
    <p:embeddedFont>
      <p:font typeface="PT Sans Narrow"/>
      <p:regular r:id="rId33"/>
      <p:bold r:id="rId34"/>
    </p:embeddedFont>
    <p:embeddedFont>
      <p:font typeface="Open Sans"/>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http://customooxmlschemas.google.com/">
      <go:slidesCustomData xmlns:go="http://customooxmlschemas.google.com/" r:id="rId39" roundtripDataSignature="AMtx7miEZRt/2RVmz05oqXNe/f3hJijNY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639C0CA-00BE-4649-8AB1-6A30D48E9C79}">
  <a:tblStyle styleId="{1639C0CA-00BE-4649-8AB1-6A30D48E9C7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PTSansNarrow-regular.fntdata"/><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OpenSans-regular.fntdata"/><Relationship Id="rId12" Type="http://schemas.openxmlformats.org/officeDocument/2006/relationships/slide" Target="slides/slide6.xml"/><Relationship Id="rId34" Type="http://schemas.openxmlformats.org/officeDocument/2006/relationships/font" Target="fonts/PTSansNarrow-bold.fntdata"/><Relationship Id="rId15" Type="http://schemas.openxmlformats.org/officeDocument/2006/relationships/slide" Target="slides/slide9.xml"/><Relationship Id="rId37" Type="http://schemas.openxmlformats.org/officeDocument/2006/relationships/font" Target="fonts/OpenSans-italic.fntdata"/><Relationship Id="rId14" Type="http://schemas.openxmlformats.org/officeDocument/2006/relationships/slide" Target="slides/slide8.xml"/><Relationship Id="rId36" Type="http://schemas.openxmlformats.org/officeDocument/2006/relationships/font" Target="fonts/OpenSans-bold.fntdata"/><Relationship Id="rId17" Type="http://schemas.openxmlformats.org/officeDocument/2006/relationships/slide" Target="slides/slide11.xml"/><Relationship Id="rId39" Type="http://customschemas.google.com/relationships/presentationmetadata" Target="metadata"/><Relationship Id="rId16" Type="http://schemas.openxmlformats.org/officeDocument/2006/relationships/slide" Target="slides/slide10.xml"/><Relationship Id="rId38" Type="http://schemas.openxmlformats.org/officeDocument/2006/relationships/font" Target="fonts/OpenSans-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 name="Google Shape;6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11714e332f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11714e332f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 name="Google Shape;8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 name="Google Shape;8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132517703d8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132517703d8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 name="Google Shape;9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 name="Google Shape;105;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114b31f6f76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114b31f6f76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1163535762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1163535762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1163535762c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1163535762c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1163535762c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1163535762c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129edc8c9f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129edc8c9f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11bb50c3012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11bb50c3012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1bb50c3012_1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11bb50c3012_1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11bb50c3012_1_5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11bb50c3012_1_5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11bb50c3012_1_5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11bb50c3012_1_5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12834b5596b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12834b5596b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11bb50c3012_1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11bb50c3012_1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11bb50c3012_1_4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11bb50c3012_1_4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12a35c36e4b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12a35c36e4b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11bb50c3012_1_5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11bb50c3012_1_5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11bb50c3012_1_5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11bb50c3012_1_5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128736c4954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128736c4954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12834b5596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12834b5596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12834b5596b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12834b5596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9" name="Google Shape;229;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15"/>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1" name="Google Shape;11;p15"/>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2" name="Google Shape;12;p15"/>
          <p:cNvGrpSpPr/>
          <p:nvPr/>
        </p:nvGrpSpPr>
        <p:grpSpPr>
          <a:xfrm>
            <a:off x="1004144" y="1022025"/>
            <a:ext cx="7136669" cy="152400"/>
            <a:chOff x="1346429" y="1011300"/>
            <a:chExt cx="6452100" cy="152400"/>
          </a:xfrm>
        </p:grpSpPr>
        <p:cxnSp>
          <p:nvCxnSpPr>
            <p:cNvPr id="13" name="Google Shape;13;p15"/>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 name="Google Shape;14;p15"/>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5" name="Google Shape;15;p15"/>
          <p:cNvGrpSpPr/>
          <p:nvPr/>
        </p:nvGrpSpPr>
        <p:grpSpPr>
          <a:xfrm>
            <a:off x="1004151" y="3969100"/>
            <a:ext cx="7136669" cy="152400"/>
            <a:chOff x="1346435" y="3969088"/>
            <a:chExt cx="6452100" cy="152400"/>
          </a:xfrm>
        </p:grpSpPr>
        <p:cxnSp>
          <p:nvCxnSpPr>
            <p:cNvPr id="16" name="Google Shape;16;p15"/>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7" name="Google Shape;17;p15"/>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8" name="Google Shape;18;p15"/>
          <p:cNvSpPr txBox="1"/>
          <p:nvPr>
            <p:ph type="ctrTitle"/>
          </p:nvPr>
        </p:nvSpPr>
        <p:spPr>
          <a:xfrm>
            <a:off x="1004150" y="1751764"/>
            <a:ext cx="7136700" cy="1022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400"/>
              <a:buNone/>
              <a:defRPr sz="5400"/>
            </a:lvl1pPr>
            <a:lvl2pPr lvl="1" algn="ctr">
              <a:lnSpc>
                <a:spcPct val="100000"/>
              </a:lnSpc>
              <a:spcBef>
                <a:spcPts val="0"/>
              </a:spcBef>
              <a:spcAft>
                <a:spcPts val="0"/>
              </a:spcAft>
              <a:buSzPts val="5400"/>
              <a:buNone/>
              <a:defRPr sz="5400"/>
            </a:lvl2pPr>
            <a:lvl3pPr lvl="2" algn="ctr">
              <a:lnSpc>
                <a:spcPct val="100000"/>
              </a:lnSpc>
              <a:spcBef>
                <a:spcPts val="0"/>
              </a:spcBef>
              <a:spcAft>
                <a:spcPts val="0"/>
              </a:spcAft>
              <a:buSzPts val="5400"/>
              <a:buNone/>
              <a:defRPr sz="5400"/>
            </a:lvl3pPr>
            <a:lvl4pPr lvl="3" algn="ctr">
              <a:lnSpc>
                <a:spcPct val="100000"/>
              </a:lnSpc>
              <a:spcBef>
                <a:spcPts val="0"/>
              </a:spcBef>
              <a:spcAft>
                <a:spcPts val="0"/>
              </a:spcAft>
              <a:buSzPts val="5400"/>
              <a:buNone/>
              <a:defRPr sz="5400"/>
            </a:lvl4pPr>
            <a:lvl5pPr lvl="4" algn="ctr">
              <a:lnSpc>
                <a:spcPct val="100000"/>
              </a:lnSpc>
              <a:spcBef>
                <a:spcPts val="0"/>
              </a:spcBef>
              <a:spcAft>
                <a:spcPts val="0"/>
              </a:spcAft>
              <a:buSzPts val="5400"/>
              <a:buNone/>
              <a:defRPr sz="5400"/>
            </a:lvl5pPr>
            <a:lvl6pPr lvl="5" algn="ctr">
              <a:lnSpc>
                <a:spcPct val="100000"/>
              </a:lnSpc>
              <a:spcBef>
                <a:spcPts val="0"/>
              </a:spcBef>
              <a:spcAft>
                <a:spcPts val="0"/>
              </a:spcAft>
              <a:buSzPts val="5400"/>
              <a:buNone/>
              <a:defRPr sz="5400"/>
            </a:lvl6pPr>
            <a:lvl7pPr lvl="6" algn="ctr">
              <a:lnSpc>
                <a:spcPct val="100000"/>
              </a:lnSpc>
              <a:spcBef>
                <a:spcPts val="0"/>
              </a:spcBef>
              <a:spcAft>
                <a:spcPts val="0"/>
              </a:spcAft>
              <a:buSzPts val="5400"/>
              <a:buNone/>
              <a:defRPr sz="5400"/>
            </a:lvl7pPr>
            <a:lvl8pPr lvl="7" algn="ctr">
              <a:lnSpc>
                <a:spcPct val="100000"/>
              </a:lnSpc>
              <a:spcBef>
                <a:spcPts val="0"/>
              </a:spcBef>
              <a:spcAft>
                <a:spcPts val="0"/>
              </a:spcAft>
              <a:buSzPts val="5400"/>
              <a:buNone/>
              <a:defRPr sz="5400"/>
            </a:lvl8pPr>
            <a:lvl9pPr lvl="8" algn="ctr">
              <a:lnSpc>
                <a:spcPct val="100000"/>
              </a:lnSpc>
              <a:spcBef>
                <a:spcPts val="0"/>
              </a:spcBef>
              <a:spcAft>
                <a:spcPts val="0"/>
              </a:spcAft>
              <a:buSzPts val="5400"/>
              <a:buNone/>
              <a:defRPr sz="5400"/>
            </a:lvl9pPr>
          </a:lstStyle>
          <a:p/>
        </p:txBody>
      </p:sp>
      <p:sp>
        <p:nvSpPr>
          <p:cNvPr id="19" name="Google Shape;19;p15"/>
          <p:cNvSpPr txBox="1"/>
          <p:nvPr>
            <p:ph idx="1" type="subTitle"/>
          </p:nvPr>
        </p:nvSpPr>
        <p:spPr>
          <a:xfrm>
            <a:off x="2137225" y="2850039"/>
            <a:ext cx="48705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 name="Google Shape;20;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sp>
        <p:nvSpPr>
          <p:cNvPr id="22" name="Google Shape;22;p16"/>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16"/>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24" name="Google Shape;24;p16"/>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5" name="Google Shape;25;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AUTOLAYOUT_2">
    <p:bg>
      <p:bgPr>
        <a:solidFill>
          <a:srgbClr val="FFFFFF"/>
        </a:solidFill>
      </p:bgPr>
    </p:bg>
    <p:spTree>
      <p:nvGrpSpPr>
        <p:cNvPr id="26" name="Shape 26"/>
        <p:cNvGrpSpPr/>
        <p:nvPr/>
      </p:nvGrpSpPr>
      <p:grpSpPr>
        <a:xfrm>
          <a:off x="0" y="0"/>
          <a:ext cx="0" cy="0"/>
          <a:chOff x="0" y="0"/>
          <a:chExt cx="0" cy="0"/>
        </a:xfrm>
      </p:grpSpPr>
      <p:sp>
        <p:nvSpPr>
          <p:cNvPr id="27" name="Google Shape;27;p17"/>
          <p:cNvSpPr/>
          <p:nvPr/>
        </p:nvSpPr>
        <p:spPr>
          <a:xfrm>
            <a:off x="0" y="0"/>
            <a:ext cx="914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17"/>
          <p:cNvSpPr txBox="1"/>
          <p:nvPr>
            <p:ph type="ctrTitle"/>
          </p:nvPr>
        </p:nvSpPr>
        <p:spPr>
          <a:xfrm>
            <a:off x="661050" y="542100"/>
            <a:ext cx="7821900" cy="40593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8000"/>
              <a:buNone/>
              <a:defRPr b="1" sz="8000">
                <a:solidFill>
                  <a:schemeClr val="lt1"/>
                </a:solidFill>
              </a:defRPr>
            </a:lvl1pPr>
            <a:lvl2pPr lvl="1" algn="ctr">
              <a:lnSpc>
                <a:spcPct val="100000"/>
              </a:lnSpc>
              <a:spcBef>
                <a:spcPts val="0"/>
              </a:spcBef>
              <a:spcAft>
                <a:spcPts val="0"/>
              </a:spcAft>
              <a:buClr>
                <a:schemeClr val="lt1"/>
              </a:buClr>
              <a:buSzPts val="8000"/>
              <a:buNone/>
              <a:defRPr b="1" sz="8000">
                <a:solidFill>
                  <a:schemeClr val="lt1"/>
                </a:solidFill>
              </a:defRPr>
            </a:lvl2pPr>
            <a:lvl3pPr lvl="2" algn="ctr">
              <a:lnSpc>
                <a:spcPct val="100000"/>
              </a:lnSpc>
              <a:spcBef>
                <a:spcPts val="0"/>
              </a:spcBef>
              <a:spcAft>
                <a:spcPts val="0"/>
              </a:spcAft>
              <a:buClr>
                <a:schemeClr val="lt1"/>
              </a:buClr>
              <a:buSzPts val="8000"/>
              <a:buNone/>
              <a:defRPr b="1" sz="8000">
                <a:solidFill>
                  <a:schemeClr val="lt1"/>
                </a:solidFill>
              </a:defRPr>
            </a:lvl3pPr>
            <a:lvl4pPr lvl="3" algn="ctr">
              <a:lnSpc>
                <a:spcPct val="100000"/>
              </a:lnSpc>
              <a:spcBef>
                <a:spcPts val="0"/>
              </a:spcBef>
              <a:spcAft>
                <a:spcPts val="0"/>
              </a:spcAft>
              <a:buClr>
                <a:schemeClr val="lt1"/>
              </a:buClr>
              <a:buSzPts val="8000"/>
              <a:buNone/>
              <a:defRPr b="1" sz="8000">
                <a:solidFill>
                  <a:schemeClr val="lt1"/>
                </a:solidFill>
              </a:defRPr>
            </a:lvl4pPr>
            <a:lvl5pPr lvl="4" algn="ctr">
              <a:lnSpc>
                <a:spcPct val="100000"/>
              </a:lnSpc>
              <a:spcBef>
                <a:spcPts val="0"/>
              </a:spcBef>
              <a:spcAft>
                <a:spcPts val="0"/>
              </a:spcAft>
              <a:buClr>
                <a:schemeClr val="lt1"/>
              </a:buClr>
              <a:buSzPts val="8000"/>
              <a:buNone/>
              <a:defRPr b="1" sz="8000">
                <a:solidFill>
                  <a:schemeClr val="lt1"/>
                </a:solidFill>
              </a:defRPr>
            </a:lvl5pPr>
            <a:lvl6pPr lvl="5" algn="ctr">
              <a:lnSpc>
                <a:spcPct val="100000"/>
              </a:lnSpc>
              <a:spcBef>
                <a:spcPts val="0"/>
              </a:spcBef>
              <a:spcAft>
                <a:spcPts val="0"/>
              </a:spcAft>
              <a:buClr>
                <a:schemeClr val="lt1"/>
              </a:buClr>
              <a:buSzPts val="8000"/>
              <a:buNone/>
              <a:defRPr b="1" sz="8000">
                <a:solidFill>
                  <a:schemeClr val="lt1"/>
                </a:solidFill>
              </a:defRPr>
            </a:lvl6pPr>
            <a:lvl7pPr lvl="6" algn="ctr">
              <a:lnSpc>
                <a:spcPct val="100000"/>
              </a:lnSpc>
              <a:spcBef>
                <a:spcPts val="0"/>
              </a:spcBef>
              <a:spcAft>
                <a:spcPts val="0"/>
              </a:spcAft>
              <a:buClr>
                <a:schemeClr val="lt1"/>
              </a:buClr>
              <a:buSzPts val="8000"/>
              <a:buNone/>
              <a:defRPr b="1" sz="8000">
                <a:solidFill>
                  <a:schemeClr val="lt1"/>
                </a:solidFill>
              </a:defRPr>
            </a:lvl7pPr>
            <a:lvl8pPr lvl="7" algn="ctr">
              <a:lnSpc>
                <a:spcPct val="100000"/>
              </a:lnSpc>
              <a:spcBef>
                <a:spcPts val="0"/>
              </a:spcBef>
              <a:spcAft>
                <a:spcPts val="0"/>
              </a:spcAft>
              <a:buClr>
                <a:schemeClr val="lt1"/>
              </a:buClr>
              <a:buSzPts val="8000"/>
              <a:buNone/>
              <a:defRPr b="1" sz="8000">
                <a:solidFill>
                  <a:schemeClr val="lt1"/>
                </a:solidFill>
              </a:defRPr>
            </a:lvl8pPr>
            <a:lvl9pPr lvl="8" algn="ctr">
              <a:lnSpc>
                <a:spcPct val="100000"/>
              </a:lnSpc>
              <a:spcBef>
                <a:spcPts val="0"/>
              </a:spcBef>
              <a:spcAft>
                <a:spcPts val="0"/>
              </a:spcAft>
              <a:buClr>
                <a:schemeClr val="lt1"/>
              </a:buClr>
              <a:buSzPts val="8000"/>
              <a:buNone/>
              <a:defRPr b="1" sz="8000">
                <a:solidFill>
                  <a:schemeClr val="lt1"/>
                </a:solidFill>
              </a:defRPr>
            </a:lvl9pPr>
          </a:lstStyle>
          <a:p/>
        </p:txBody>
      </p:sp>
      <p:sp>
        <p:nvSpPr>
          <p:cNvPr id="29" name="Google Shape;29;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0" name="Shape 30"/>
        <p:cNvGrpSpPr/>
        <p:nvPr/>
      </p:nvGrpSpPr>
      <p:grpSpPr>
        <a:xfrm>
          <a:off x="0" y="0"/>
          <a:ext cx="0" cy="0"/>
          <a:chOff x="0" y="0"/>
          <a:chExt cx="0" cy="0"/>
        </a:xfrm>
      </p:grpSpPr>
      <p:sp>
        <p:nvSpPr>
          <p:cNvPr id="31" name="Google Shape;31;p18"/>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18"/>
          <p:cNvSpPr txBox="1"/>
          <p:nvPr>
            <p:ph type="title"/>
          </p:nvPr>
        </p:nvSpPr>
        <p:spPr>
          <a:xfrm>
            <a:off x="311700" y="814800"/>
            <a:ext cx="8571300" cy="9420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a:lvl1pPr>
            <a:lvl2pPr lvl="1" algn="ctr">
              <a:lnSpc>
                <a:spcPct val="100000"/>
              </a:lnSpc>
              <a:spcBef>
                <a:spcPts val="0"/>
              </a:spcBef>
              <a:spcAft>
                <a:spcPts val="0"/>
              </a:spcAft>
              <a:buSzPts val="3600"/>
              <a:buNone/>
              <a:defRPr/>
            </a:lvl2pPr>
            <a:lvl3pPr lvl="2" algn="ctr">
              <a:lnSpc>
                <a:spcPct val="100000"/>
              </a:lnSpc>
              <a:spcBef>
                <a:spcPts val="0"/>
              </a:spcBef>
              <a:spcAft>
                <a:spcPts val="0"/>
              </a:spcAft>
              <a:buSzPts val="3600"/>
              <a:buNone/>
              <a:defRPr/>
            </a:lvl3pPr>
            <a:lvl4pPr lvl="3" algn="ctr">
              <a:lnSpc>
                <a:spcPct val="100000"/>
              </a:lnSpc>
              <a:spcBef>
                <a:spcPts val="0"/>
              </a:spcBef>
              <a:spcAft>
                <a:spcPts val="0"/>
              </a:spcAft>
              <a:buSzPts val="3600"/>
              <a:buNone/>
              <a:defRPr/>
            </a:lvl4pPr>
            <a:lvl5pPr lvl="4" algn="ctr">
              <a:lnSpc>
                <a:spcPct val="100000"/>
              </a:lnSpc>
              <a:spcBef>
                <a:spcPts val="0"/>
              </a:spcBef>
              <a:spcAft>
                <a:spcPts val="0"/>
              </a:spcAft>
              <a:buSzPts val="3600"/>
              <a:buNone/>
              <a:defRPr/>
            </a:lvl5pPr>
            <a:lvl6pPr lvl="5" algn="ctr">
              <a:lnSpc>
                <a:spcPct val="100000"/>
              </a:lnSpc>
              <a:spcBef>
                <a:spcPts val="0"/>
              </a:spcBef>
              <a:spcAft>
                <a:spcPts val="0"/>
              </a:spcAft>
              <a:buSzPts val="3600"/>
              <a:buNone/>
              <a:defRPr/>
            </a:lvl6pPr>
            <a:lvl7pPr lvl="6" algn="ctr">
              <a:lnSpc>
                <a:spcPct val="100000"/>
              </a:lnSpc>
              <a:spcBef>
                <a:spcPts val="0"/>
              </a:spcBef>
              <a:spcAft>
                <a:spcPts val="0"/>
              </a:spcAft>
              <a:buSzPts val="3600"/>
              <a:buNone/>
              <a:defRPr/>
            </a:lvl7pPr>
            <a:lvl8pPr lvl="7" algn="ctr">
              <a:lnSpc>
                <a:spcPct val="100000"/>
              </a:lnSpc>
              <a:spcBef>
                <a:spcPts val="0"/>
              </a:spcBef>
              <a:spcAft>
                <a:spcPts val="0"/>
              </a:spcAft>
              <a:buSzPts val="3600"/>
              <a:buNone/>
              <a:defRPr/>
            </a:lvl8pPr>
            <a:lvl9pPr lvl="8" algn="ctr">
              <a:lnSpc>
                <a:spcPct val="100000"/>
              </a:lnSpc>
              <a:spcBef>
                <a:spcPts val="0"/>
              </a:spcBef>
              <a:spcAft>
                <a:spcPts val="0"/>
              </a:spcAft>
              <a:buSzPts val="3600"/>
              <a:buNone/>
              <a:defRPr/>
            </a:lvl9pPr>
          </a:lstStyle>
          <a:p/>
        </p:txBody>
      </p:sp>
      <p:sp>
        <p:nvSpPr>
          <p:cNvPr id="33" name="Google Shape;33;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4" name="Shape 34"/>
        <p:cNvGrpSpPr/>
        <p:nvPr/>
      </p:nvGrpSpPr>
      <p:grpSpPr>
        <a:xfrm>
          <a:off x="0" y="0"/>
          <a:ext cx="0" cy="0"/>
          <a:chOff x="0" y="0"/>
          <a:chExt cx="0" cy="0"/>
        </a:xfrm>
      </p:grpSpPr>
      <p:sp>
        <p:nvSpPr>
          <p:cNvPr id="35" name="Google Shape;35;p19"/>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36" name="Google Shape;36;p19"/>
          <p:cNvSpPr txBox="1"/>
          <p:nvPr>
            <p:ph idx="1" type="body"/>
          </p:nvPr>
        </p:nvSpPr>
        <p:spPr>
          <a:xfrm>
            <a:off x="311700" y="1266175"/>
            <a:ext cx="3999900" cy="33027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7" name="Google Shape;37;p19"/>
          <p:cNvSpPr txBox="1"/>
          <p:nvPr>
            <p:ph idx="2" type="body"/>
          </p:nvPr>
        </p:nvSpPr>
        <p:spPr>
          <a:xfrm>
            <a:off x="4832400" y="1266175"/>
            <a:ext cx="3999900" cy="33027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8" name="Google Shape;38;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20"/>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41" name="Google Shape;41;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2" name="Shape 42"/>
        <p:cNvGrpSpPr/>
        <p:nvPr/>
      </p:nvGrpSpPr>
      <p:grpSpPr>
        <a:xfrm>
          <a:off x="0" y="0"/>
          <a:ext cx="0" cy="0"/>
          <a:chOff x="0" y="0"/>
          <a:chExt cx="0" cy="0"/>
        </a:xfrm>
      </p:grpSpPr>
      <p:sp>
        <p:nvSpPr>
          <p:cNvPr id="43" name="Google Shape;43;p21"/>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4" name="Google Shape;44;p21"/>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5" name="Google Shape;45;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46" name="Shape 46"/>
        <p:cNvGrpSpPr/>
        <p:nvPr/>
      </p:nvGrpSpPr>
      <p:grpSpPr>
        <a:xfrm>
          <a:off x="0" y="0"/>
          <a:ext cx="0" cy="0"/>
          <a:chOff x="0" y="0"/>
          <a:chExt cx="0" cy="0"/>
        </a:xfrm>
      </p:grpSpPr>
      <p:sp>
        <p:nvSpPr>
          <p:cNvPr id="47" name="Google Shape;47;p22"/>
          <p:cNvSpPr txBox="1"/>
          <p:nvPr>
            <p:ph type="title"/>
          </p:nvPr>
        </p:nvSpPr>
        <p:spPr>
          <a:xfrm>
            <a:off x="490250" y="526350"/>
            <a:ext cx="56136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dk2"/>
              </a:buClr>
              <a:buSzPts val="5400"/>
              <a:buNone/>
              <a:defRPr b="0" sz="5400">
                <a:solidFill>
                  <a:schemeClr val="dk2"/>
                </a:solidFill>
              </a:defRPr>
            </a:lvl1pPr>
            <a:lvl2pPr lvl="1" algn="l">
              <a:lnSpc>
                <a:spcPct val="100000"/>
              </a:lnSpc>
              <a:spcBef>
                <a:spcPts val="0"/>
              </a:spcBef>
              <a:spcAft>
                <a:spcPts val="0"/>
              </a:spcAft>
              <a:buClr>
                <a:schemeClr val="dk2"/>
              </a:buClr>
              <a:buSzPts val="5400"/>
              <a:buNone/>
              <a:defRPr b="0" sz="5400">
                <a:solidFill>
                  <a:schemeClr val="dk2"/>
                </a:solidFill>
              </a:defRPr>
            </a:lvl2pPr>
            <a:lvl3pPr lvl="2" algn="l">
              <a:lnSpc>
                <a:spcPct val="100000"/>
              </a:lnSpc>
              <a:spcBef>
                <a:spcPts val="0"/>
              </a:spcBef>
              <a:spcAft>
                <a:spcPts val="0"/>
              </a:spcAft>
              <a:buClr>
                <a:schemeClr val="dk2"/>
              </a:buClr>
              <a:buSzPts val="5400"/>
              <a:buNone/>
              <a:defRPr b="0" sz="5400">
                <a:solidFill>
                  <a:schemeClr val="dk2"/>
                </a:solidFill>
              </a:defRPr>
            </a:lvl3pPr>
            <a:lvl4pPr lvl="3" algn="l">
              <a:lnSpc>
                <a:spcPct val="100000"/>
              </a:lnSpc>
              <a:spcBef>
                <a:spcPts val="0"/>
              </a:spcBef>
              <a:spcAft>
                <a:spcPts val="0"/>
              </a:spcAft>
              <a:buClr>
                <a:schemeClr val="dk2"/>
              </a:buClr>
              <a:buSzPts val="5400"/>
              <a:buNone/>
              <a:defRPr b="0" sz="5400">
                <a:solidFill>
                  <a:schemeClr val="dk2"/>
                </a:solidFill>
              </a:defRPr>
            </a:lvl4pPr>
            <a:lvl5pPr lvl="4" algn="l">
              <a:lnSpc>
                <a:spcPct val="100000"/>
              </a:lnSpc>
              <a:spcBef>
                <a:spcPts val="0"/>
              </a:spcBef>
              <a:spcAft>
                <a:spcPts val="0"/>
              </a:spcAft>
              <a:buClr>
                <a:schemeClr val="dk2"/>
              </a:buClr>
              <a:buSzPts val="5400"/>
              <a:buNone/>
              <a:defRPr b="0" sz="5400">
                <a:solidFill>
                  <a:schemeClr val="dk2"/>
                </a:solidFill>
              </a:defRPr>
            </a:lvl5pPr>
            <a:lvl6pPr lvl="5" algn="l">
              <a:lnSpc>
                <a:spcPct val="100000"/>
              </a:lnSpc>
              <a:spcBef>
                <a:spcPts val="0"/>
              </a:spcBef>
              <a:spcAft>
                <a:spcPts val="0"/>
              </a:spcAft>
              <a:buClr>
                <a:schemeClr val="dk2"/>
              </a:buClr>
              <a:buSzPts val="5400"/>
              <a:buNone/>
              <a:defRPr b="0" sz="5400">
                <a:solidFill>
                  <a:schemeClr val="dk2"/>
                </a:solidFill>
              </a:defRPr>
            </a:lvl6pPr>
            <a:lvl7pPr lvl="6" algn="l">
              <a:lnSpc>
                <a:spcPct val="100000"/>
              </a:lnSpc>
              <a:spcBef>
                <a:spcPts val="0"/>
              </a:spcBef>
              <a:spcAft>
                <a:spcPts val="0"/>
              </a:spcAft>
              <a:buClr>
                <a:schemeClr val="dk2"/>
              </a:buClr>
              <a:buSzPts val="5400"/>
              <a:buNone/>
              <a:defRPr b="0" sz="5400">
                <a:solidFill>
                  <a:schemeClr val="dk2"/>
                </a:solidFill>
              </a:defRPr>
            </a:lvl7pPr>
            <a:lvl8pPr lvl="7" algn="l">
              <a:lnSpc>
                <a:spcPct val="100000"/>
              </a:lnSpc>
              <a:spcBef>
                <a:spcPts val="0"/>
              </a:spcBef>
              <a:spcAft>
                <a:spcPts val="0"/>
              </a:spcAft>
              <a:buClr>
                <a:schemeClr val="dk2"/>
              </a:buClr>
              <a:buSzPts val="5400"/>
              <a:buNone/>
              <a:defRPr b="0" sz="5400">
                <a:solidFill>
                  <a:schemeClr val="dk2"/>
                </a:solidFill>
              </a:defRPr>
            </a:lvl8pPr>
            <a:lvl9pPr lvl="8" algn="l">
              <a:lnSpc>
                <a:spcPct val="100000"/>
              </a:lnSpc>
              <a:spcBef>
                <a:spcPts val="0"/>
              </a:spcBef>
              <a:spcAft>
                <a:spcPts val="0"/>
              </a:spcAft>
              <a:buClr>
                <a:schemeClr val="dk2"/>
              </a:buClr>
              <a:buSzPts val="5400"/>
              <a:buNone/>
              <a:defRPr b="0" sz="5400">
                <a:solidFill>
                  <a:schemeClr val="dk2"/>
                </a:solidFill>
              </a:defRPr>
            </a:lvl9pPr>
          </a:lstStyle>
          <a:p/>
        </p:txBody>
      </p:sp>
      <p:sp>
        <p:nvSpPr>
          <p:cNvPr id="48" name="Google Shape;48;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9" name="Shape 49"/>
        <p:cNvGrpSpPr/>
        <p:nvPr/>
      </p:nvGrpSpPr>
      <p:grpSpPr>
        <a:xfrm>
          <a:off x="0" y="0"/>
          <a:ext cx="0" cy="0"/>
          <a:chOff x="0" y="0"/>
          <a:chExt cx="0" cy="0"/>
        </a:xfrm>
      </p:grpSpPr>
      <p:sp>
        <p:nvSpPr>
          <p:cNvPr id="50" name="Google Shape;50;p23"/>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51" name="Google Shape;51;p23"/>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52" name="Google Shape;52;p23"/>
          <p:cNvSpPr txBox="1"/>
          <p:nvPr>
            <p:ph type="title"/>
          </p:nvPr>
        </p:nvSpPr>
        <p:spPr>
          <a:xfrm>
            <a:off x="265500" y="1039675"/>
            <a:ext cx="4045200" cy="16758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53" name="Google Shape;53;p23"/>
          <p:cNvSpPr txBox="1"/>
          <p:nvPr>
            <p:ph idx="1" type="subTitle"/>
          </p:nvPr>
        </p:nvSpPr>
        <p:spPr>
          <a:xfrm>
            <a:off x="265500" y="27268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4" name="Google Shape;54;p23"/>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55" name="Google Shape;55;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6" name="Shape 56"/>
        <p:cNvGrpSpPr/>
        <p:nvPr/>
      </p:nvGrpSpPr>
      <p:grpSpPr>
        <a:xfrm>
          <a:off x="0" y="0"/>
          <a:ext cx="0" cy="0"/>
          <a:chOff x="0" y="0"/>
          <a:chExt cx="0" cy="0"/>
        </a:xfrm>
      </p:grpSpPr>
      <p:sp>
        <p:nvSpPr>
          <p:cNvPr id="57" name="Google Shape;57;p24"/>
          <p:cNvSpPr txBox="1"/>
          <p:nvPr>
            <p:ph idx="1" type="body"/>
          </p:nvPr>
        </p:nvSpPr>
        <p:spPr>
          <a:xfrm>
            <a:off x="311700" y="423072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58" name="Google Shape;58;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9" name="Shape 59"/>
        <p:cNvGrpSpPr/>
        <p:nvPr/>
      </p:nvGrpSpPr>
      <p:grpSpPr>
        <a:xfrm>
          <a:off x="0" y="0"/>
          <a:ext cx="0" cy="0"/>
          <a:chOff x="0" y="0"/>
          <a:chExt cx="0" cy="0"/>
        </a:xfrm>
      </p:grpSpPr>
      <p:sp>
        <p:nvSpPr>
          <p:cNvPr id="60" name="Google Shape;60;p25"/>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25"/>
          <p:cNvSpPr txBox="1"/>
          <p:nvPr>
            <p:ph hasCustomPrompt="1" type="title"/>
          </p:nvPr>
        </p:nvSpPr>
        <p:spPr>
          <a:xfrm>
            <a:off x="311700" y="1304850"/>
            <a:ext cx="8520600" cy="15384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3"/>
              </a:buClr>
              <a:buSzPts val="13000"/>
              <a:buNone/>
              <a:defRPr sz="13000">
                <a:solidFill>
                  <a:schemeClr val="accent3"/>
                </a:solidFill>
              </a:defRPr>
            </a:lvl1pPr>
            <a:lvl2pPr lvl="1" algn="ctr">
              <a:lnSpc>
                <a:spcPct val="100000"/>
              </a:lnSpc>
              <a:spcBef>
                <a:spcPts val="0"/>
              </a:spcBef>
              <a:spcAft>
                <a:spcPts val="0"/>
              </a:spcAft>
              <a:buClr>
                <a:schemeClr val="accent3"/>
              </a:buClr>
              <a:buSzPts val="13000"/>
              <a:buNone/>
              <a:defRPr sz="13000">
                <a:solidFill>
                  <a:schemeClr val="accent3"/>
                </a:solidFill>
              </a:defRPr>
            </a:lvl2pPr>
            <a:lvl3pPr lvl="2" algn="ctr">
              <a:lnSpc>
                <a:spcPct val="100000"/>
              </a:lnSpc>
              <a:spcBef>
                <a:spcPts val="0"/>
              </a:spcBef>
              <a:spcAft>
                <a:spcPts val="0"/>
              </a:spcAft>
              <a:buClr>
                <a:schemeClr val="accent3"/>
              </a:buClr>
              <a:buSzPts val="13000"/>
              <a:buNone/>
              <a:defRPr sz="13000">
                <a:solidFill>
                  <a:schemeClr val="accent3"/>
                </a:solidFill>
              </a:defRPr>
            </a:lvl3pPr>
            <a:lvl4pPr lvl="3" algn="ctr">
              <a:lnSpc>
                <a:spcPct val="100000"/>
              </a:lnSpc>
              <a:spcBef>
                <a:spcPts val="0"/>
              </a:spcBef>
              <a:spcAft>
                <a:spcPts val="0"/>
              </a:spcAft>
              <a:buClr>
                <a:schemeClr val="accent3"/>
              </a:buClr>
              <a:buSzPts val="13000"/>
              <a:buNone/>
              <a:defRPr sz="13000">
                <a:solidFill>
                  <a:schemeClr val="accent3"/>
                </a:solidFill>
              </a:defRPr>
            </a:lvl4pPr>
            <a:lvl5pPr lvl="4" algn="ctr">
              <a:lnSpc>
                <a:spcPct val="100000"/>
              </a:lnSpc>
              <a:spcBef>
                <a:spcPts val="0"/>
              </a:spcBef>
              <a:spcAft>
                <a:spcPts val="0"/>
              </a:spcAft>
              <a:buClr>
                <a:schemeClr val="accent3"/>
              </a:buClr>
              <a:buSzPts val="13000"/>
              <a:buNone/>
              <a:defRPr sz="13000">
                <a:solidFill>
                  <a:schemeClr val="accent3"/>
                </a:solidFill>
              </a:defRPr>
            </a:lvl5pPr>
            <a:lvl6pPr lvl="5" algn="ctr">
              <a:lnSpc>
                <a:spcPct val="100000"/>
              </a:lnSpc>
              <a:spcBef>
                <a:spcPts val="0"/>
              </a:spcBef>
              <a:spcAft>
                <a:spcPts val="0"/>
              </a:spcAft>
              <a:buClr>
                <a:schemeClr val="accent3"/>
              </a:buClr>
              <a:buSzPts val="13000"/>
              <a:buNone/>
              <a:defRPr sz="13000">
                <a:solidFill>
                  <a:schemeClr val="accent3"/>
                </a:solidFill>
              </a:defRPr>
            </a:lvl6pPr>
            <a:lvl7pPr lvl="6" algn="ctr">
              <a:lnSpc>
                <a:spcPct val="100000"/>
              </a:lnSpc>
              <a:spcBef>
                <a:spcPts val="0"/>
              </a:spcBef>
              <a:spcAft>
                <a:spcPts val="0"/>
              </a:spcAft>
              <a:buClr>
                <a:schemeClr val="accent3"/>
              </a:buClr>
              <a:buSzPts val="13000"/>
              <a:buNone/>
              <a:defRPr sz="13000">
                <a:solidFill>
                  <a:schemeClr val="accent3"/>
                </a:solidFill>
              </a:defRPr>
            </a:lvl7pPr>
            <a:lvl8pPr lvl="7" algn="ctr">
              <a:lnSpc>
                <a:spcPct val="100000"/>
              </a:lnSpc>
              <a:spcBef>
                <a:spcPts val="0"/>
              </a:spcBef>
              <a:spcAft>
                <a:spcPts val="0"/>
              </a:spcAft>
              <a:buClr>
                <a:schemeClr val="accent3"/>
              </a:buClr>
              <a:buSzPts val="13000"/>
              <a:buNone/>
              <a:defRPr sz="13000">
                <a:solidFill>
                  <a:schemeClr val="accent3"/>
                </a:solidFill>
              </a:defRPr>
            </a:lvl8pPr>
            <a:lvl9pPr lvl="8" algn="ctr">
              <a:lnSpc>
                <a:spcPct val="100000"/>
              </a:lnSpc>
              <a:spcBef>
                <a:spcPts val="0"/>
              </a:spcBef>
              <a:spcAft>
                <a:spcPts val="0"/>
              </a:spcAft>
              <a:buClr>
                <a:schemeClr val="accent3"/>
              </a:buClr>
              <a:buSzPts val="13000"/>
              <a:buNone/>
              <a:defRPr sz="13000">
                <a:solidFill>
                  <a:schemeClr val="accent3"/>
                </a:solidFill>
              </a:defRPr>
            </a:lvl9pPr>
          </a:lstStyle>
          <a:p>
            <a:r>
              <a:t>xx%</a:t>
            </a:r>
          </a:p>
        </p:txBody>
      </p:sp>
      <p:sp>
        <p:nvSpPr>
          <p:cNvPr id="62" name="Google Shape;62;p25"/>
          <p:cNvSpPr txBox="1"/>
          <p:nvPr>
            <p:ph idx="1" type="body"/>
          </p:nvPr>
        </p:nvSpPr>
        <p:spPr>
          <a:xfrm>
            <a:off x="311700" y="2995650"/>
            <a:ext cx="8520600" cy="10716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63" name="Google Shape;63;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p14"/>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1pPr>
            <a:lvl2pPr lvl="1"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2pPr>
            <a:lvl3pPr lvl="2"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3pPr>
            <a:lvl4pPr lvl="3"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4pPr>
            <a:lvl5pPr lvl="4"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5pPr>
            <a:lvl6pPr lvl="5"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6pPr>
            <a:lvl7pPr lvl="6"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7pPr>
            <a:lvl8pPr lvl="7"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8pPr>
            <a:lvl9pPr lvl="8"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9pPr>
          </a:lstStyle>
          <a:p/>
        </p:txBody>
      </p:sp>
      <p:sp>
        <p:nvSpPr>
          <p:cNvPr id="7" name="Google Shape;7;p14"/>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Open Sans"/>
              <a:buChar char="●"/>
              <a:defRPr b="0" i="0" sz="1800" u="none" cap="none" strike="noStrike">
                <a:solidFill>
                  <a:schemeClr val="dk2"/>
                </a:solidFill>
                <a:latin typeface="Open Sans"/>
                <a:ea typeface="Open Sans"/>
                <a:cs typeface="Open Sans"/>
                <a:sym typeface="Open Sans"/>
              </a:defRPr>
            </a:lvl1pPr>
            <a:lvl2pPr indent="-317500" lvl="1" marL="9144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2pPr>
            <a:lvl3pPr indent="-317500" lvl="2" marL="13716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3pPr>
            <a:lvl4pPr indent="-317500" lvl="3" marL="18288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4pPr>
            <a:lvl5pPr indent="-317500" lvl="4" marL="22860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5pPr>
            <a:lvl6pPr indent="-317500" lvl="5" marL="27432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6pPr>
            <a:lvl7pPr indent="-317500" lvl="6" marL="32004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7pPr>
            <a:lvl8pPr indent="-317500" lvl="7" marL="36576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8pPr>
            <a:lvl9pPr indent="-317500" lvl="8" marL="41148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9pPr>
          </a:lstStyle>
          <a:p/>
        </p:txBody>
      </p:sp>
      <p:sp>
        <p:nvSpPr>
          <p:cNvPr id="8" name="Google Shape;8;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
          <p:cNvSpPr txBox="1"/>
          <p:nvPr>
            <p:ph type="ctrTitle"/>
          </p:nvPr>
        </p:nvSpPr>
        <p:spPr>
          <a:xfrm>
            <a:off x="1003650" y="1336100"/>
            <a:ext cx="7136700" cy="1368300"/>
          </a:xfrm>
          <a:prstGeom prst="rect">
            <a:avLst/>
          </a:prstGeom>
          <a:noFill/>
          <a:ln>
            <a:noFill/>
          </a:ln>
        </p:spPr>
        <p:txBody>
          <a:bodyPr anchorCtr="0" anchor="b"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
              <a:t>Predictive Maintenance of Aircraft engines</a:t>
            </a:r>
            <a:endParaRPr/>
          </a:p>
        </p:txBody>
      </p:sp>
      <p:sp>
        <p:nvSpPr>
          <p:cNvPr id="71" name="Google Shape;71;p1"/>
          <p:cNvSpPr txBox="1"/>
          <p:nvPr>
            <p:ph idx="1" type="subTitle"/>
          </p:nvPr>
        </p:nvSpPr>
        <p:spPr>
          <a:xfrm>
            <a:off x="2136750" y="2518775"/>
            <a:ext cx="4870500" cy="1577100"/>
          </a:xfrm>
          <a:prstGeom prst="rect">
            <a:avLst/>
          </a:prstGeom>
          <a:noFill/>
          <a:ln>
            <a:noFill/>
          </a:ln>
        </p:spPr>
        <p:txBody>
          <a:bodyPr anchorCtr="0" anchor="t" bIns="91425" lIns="91425" spcFirstLastPara="1" rIns="91425" wrap="square" tIns="91425">
            <a:normAutofit lnSpcReduction="20000"/>
          </a:bodyPr>
          <a:lstStyle/>
          <a:p>
            <a:pPr indent="0" lvl="0" marL="0" rtl="0" algn="ctr">
              <a:lnSpc>
                <a:spcPct val="100000"/>
              </a:lnSpc>
              <a:spcBef>
                <a:spcPts val="0"/>
              </a:spcBef>
              <a:spcAft>
                <a:spcPts val="0"/>
              </a:spcAft>
              <a:buSzPts val="2400"/>
              <a:buNone/>
            </a:pPr>
            <a:r>
              <a:rPr lang="en" sz="1900"/>
              <a:t>By</a:t>
            </a:r>
            <a:endParaRPr sz="1900"/>
          </a:p>
          <a:p>
            <a:pPr indent="0" lvl="0" marL="0" rtl="0" algn="ctr">
              <a:lnSpc>
                <a:spcPct val="115000"/>
              </a:lnSpc>
              <a:spcBef>
                <a:spcPts val="0"/>
              </a:spcBef>
              <a:spcAft>
                <a:spcPts val="0"/>
              </a:spcAft>
              <a:buSzPts val="2400"/>
              <a:buNone/>
            </a:pPr>
            <a:r>
              <a:rPr lang="en" sz="1900"/>
              <a:t>M.Sumedhaa-160118737019</a:t>
            </a:r>
            <a:endParaRPr sz="1900"/>
          </a:p>
          <a:p>
            <a:pPr indent="0" lvl="0" marL="0" rtl="0" algn="ctr">
              <a:lnSpc>
                <a:spcPct val="115000"/>
              </a:lnSpc>
              <a:spcBef>
                <a:spcPts val="0"/>
              </a:spcBef>
              <a:spcAft>
                <a:spcPts val="0"/>
              </a:spcAft>
              <a:buSzPts val="2400"/>
              <a:buNone/>
            </a:pPr>
            <a:r>
              <a:rPr lang="en" sz="1900"/>
              <a:t>G.Usha-160118737021</a:t>
            </a:r>
            <a:endParaRPr sz="1900"/>
          </a:p>
          <a:p>
            <a:pPr indent="0" lvl="0" marL="0" rtl="0" algn="ctr">
              <a:lnSpc>
                <a:spcPct val="115000"/>
              </a:lnSpc>
              <a:spcBef>
                <a:spcPts val="0"/>
              </a:spcBef>
              <a:spcAft>
                <a:spcPts val="0"/>
              </a:spcAft>
              <a:buSzPts val="2400"/>
              <a:buNone/>
            </a:pPr>
            <a:r>
              <a:rPr lang="en" sz="1900"/>
              <a:t>Batch No.: CBIT/IT/2021-2022/111</a:t>
            </a:r>
            <a:endParaRPr sz="1900"/>
          </a:p>
          <a:p>
            <a:pPr indent="0" lvl="0" marL="0" rtl="0" algn="ctr">
              <a:lnSpc>
                <a:spcPct val="115000"/>
              </a:lnSpc>
              <a:spcBef>
                <a:spcPts val="0"/>
              </a:spcBef>
              <a:spcAft>
                <a:spcPts val="0"/>
              </a:spcAft>
              <a:buSzPts val="2400"/>
              <a:buNone/>
            </a:pPr>
            <a:r>
              <a:rPr lang="en" sz="1900"/>
              <a:t>Project Guide : S.Rakesh</a:t>
            </a:r>
            <a:endParaRPr sz="19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g11714e332f1_0_5"/>
          <p:cNvSpPr txBox="1"/>
          <p:nvPr>
            <p:ph type="title"/>
          </p:nvPr>
        </p:nvSpPr>
        <p:spPr>
          <a:xfrm>
            <a:off x="311700" y="36337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rgbClr val="000000"/>
              </a:buClr>
              <a:buSzPct val="34736"/>
              <a:buFont typeface="Arial"/>
              <a:buNone/>
            </a:pPr>
            <a:r>
              <a:rPr lang="en" sz="2850">
                <a:solidFill>
                  <a:srgbClr val="000000"/>
                </a:solidFill>
                <a:latin typeface="Times New Roman"/>
                <a:ea typeface="Times New Roman"/>
                <a:cs typeface="Times New Roman"/>
                <a:sym typeface="Times New Roman"/>
              </a:rPr>
              <a:t>CONTENTS</a:t>
            </a:r>
            <a:endParaRPr/>
          </a:p>
        </p:txBody>
      </p:sp>
      <p:sp>
        <p:nvSpPr>
          <p:cNvPr id="77" name="Google Shape;77;g11714e332f1_0_5"/>
          <p:cNvSpPr txBox="1"/>
          <p:nvPr>
            <p:ph idx="1" type="body"/>
          </p:nvPr>
        </p:nvSpPr>
        <p:spPr>
          <a:xfrm>
            <a:off x="311700" y="1266175"/>
            <a:ext cx="3999900" cy="3302700"/>
          </a:xfrm>
          <a:prstGeom prst="rect">
            <a:avLst/>
          </a:prstGeom>
        </p:spPr>
        <p:txBody>
          <a:bodyPr anchorCtr="0" anchor="t" bIns="91425" lIns="91425" spcFirstLastPara="1" rIns="91425" wrap="square" tIns="91425">
            <a:noAutofit/>
          </a:bodyPr>
          <a:lstStyle/>
          <a:p>
            <a:pPr indent="-393700" lvl="0" marL="457200" rtl="0" algn="l">
              <a:lnSpc>
                <a:spcPct val="150000"/>
              </a:lnSpc>
              <a:spcBef>
                <a:spcPts val="0"/>
              </a:spcBef>
              <a:spcAft>
                <a:spcPts val="0"/>
              </a:spcAft>
              <a:buClr>
                <a:srgbClr val="000000"/>
              </a:buClr>
              <a:buSzPts val="2600"/>
              <a:buFont typeface="Times New Roman"/>
              <a:buChar char="●"/>
            </a:pPr>
            <a:r>
              <a:rPr lang="en" sz="2600">
                <a:solidFill>
                  <a:srgbClr val="000000"/>
                </a:solidFill>
                <a:latin typeface="Times New Roman"/>
                <a:ea typeface="Times New Roman"/>
                <a:cs typeface="Times New Roman"/>
                <a:sym typeface="Times New Roman"/>
              </a:rPr>
              <a:t>Introduction                             </a:t>
            </a:r>
            <a:endParaRPr sz="2600">
              <a:solidFill>
                <a:srgbClr val="000000"/>
              </a:solidFill>
              <a:latin typeface="Times New Roman"/>
              <a:ea typeface="Times New Roman"/>
              <a:cs typeface="Times New Roman"/>
              <a:sym typeface="Times New Roman"/>
            </a:endParaRPr>
          </a:p>
          <a:p>
            <a:pPr indent="-393700" lvl="0" marL="457200" rtl="0" algn="l">
              <a:lnSpc>
                <a:spcPct val="150000"/>
              </a:lnSpc>
              <a:spcBef>
                <a:spcPts val="0"/>
              </a:spcBef>
              <a:spcAft>
                <a:spcPts val="0"/>
              </a:spcAft>
              <a:buClr>
                <a:srgbClr val="000000"/>
              </a:buClr>
              <a:buSzPts val="2600"/>
              <a:buFont typeface="Times New Roman"/>
              <a:buChar char="●"/>
            </a:pPr>
            <a:r>
              <a:rPr lang="en" sz="2600">
                <a:solidFill>
                  <a:srgbClr val="000000"/>
                </a:solidFill>
                <a:latin typeface="Times New Roman"/>
                <a:ea typeface="Times New Roman"/>
                <a:cs typeface="Times New Roman"/>
                <a:sym typeface="Times New Roman"/>
              </a:rPr>
              <a:t>Literature Survey</a:t>
            </a:r>
            <a:endParaRPr sz="2600">
              <a:solidFill>
                <a:srgbClr val="000000"/>
              </a:solidFill>
              <a:latin typeface="Times New Roman"/>
              <a:ea typeface="Times New Roman"/>
              <a:cs typeface="Times New Roman"/>
              <a:sym typeface="Times New Roman"/>
            </a:endParaRPr>
          </a:p>
          <a:p>
            <a:pPr indent="-393700" lvl="0" marL="457200" rtl="0" algn="l">
              <a:lnSpc>
                <a:spcPct val="150000"/>
              </a:lnSpc>
              <a:spcBef>
                <a:spcPts val="0"/>
              </a:spcBef>
              <a:spcAft>
                <a:spcPts val="0"/>
              </a:spcAft>
              <a:buClr>
                <a:srgbClr val="000000"/>
              </a:buClr>
              <a:buSzPts val="2600"/>
              <a:buFont typeface="Times New Roman"/>
              <a:buChar char="●"/>
            </a:pPr>
            <a:r>
              <a:rPr lang="en" sz="2600">
                <a:solidFill>
                  <a:srgbClr val="000000"/>
                </a:solidFill>
                <a:latin typeface="Times New Roman"/>
                <a:ea typeface="Times New Roman"/>
                <a:cs typeface="Times New Roman"/>
                <a:sym typeface="Times New Roman"/>
              </a:rPr>
              <a:t>System Requirements</a:t>
            </a:r>
            <a:endParaRPr sz="2600">
              <a:solidFill>
                <a:srgbClr val="000000"/>
              </a:solidFill>
              <a:latin typeface="Times New Roman"/>
              <a:ea typeface="Times New Roman"/>
              <a:cs typeface="Times New Roman"/>
              <a:sym typeface="Times New Roman"/>
            </a:endParaRPr>
          </a:p>
          <a:p>
            <a:pPr indent="-393700" lvl="0" marL="457200" rtl="0" algn="l">
              <a:lnSpc>
                <a:spcPct val="150000"/>
              </a:lnSpc>
              <a:spcBef>
                <a:spcPts val="0"/>
              </a:spcBef>
              <a:spcAft>
                <a:spcPts val="0"/>
              </a:spcAft>
              <a:buClr>
                <a:srgbClr val="000000"/>
              </a:buClr>
              <a:buSzPts val="2600"/>
              <a:buFont typeface="Times New Roman"/>
              <a:buChar char="●"/>
            </a:pPr>
            <a:r>
              <a:rPr lang="en" sz="2600">
                <a:solidFill>
                  <a:srgbClr val="000000"/>
                </a:solidFill>
                <a:latin typeface="Times New Roman"/>
                <a:ea typeface="Times New Roman"/>
                <a:cs typeface="Times New Roman"/>
                <a:sym typeface="Times New Roman"/>
              </a:rPr>
              <a:t>Methodology</a:t>
            </a:r>
            <a:endParaRPr sz="2600">
              <a:solidFill>
                <a:srgbClr val="000000"/>
              </a:solidFill>
              <a:latin typeface="Times New Roman"/>
              <a:ea typeface="Times New Roman"/>
              <a:cs typeface="Times New Roman"/>
              <a:sym typeface="Times New Roman"/>
            </a:endParaRPr>
          </a:p>
          <a:p>
            <a:pPr indent="-393700" lvl="0" marL="457200" rtl="0" algn="l">
              <a:lnSpc>
                <a:spcPct val="150000"/>
              </a:lnSpc>
              <a:spcBef>
                <a:spcPts val="0"/>
              </a:spcBef>
              <a:spcAft>
                <a:spcPts val="0"/>
              </a:spcAft>
              <a:buClr>
                <a:srgbClr val="000000"/>
              </a:buClr>
              <a:buSzPts val="2600"/>
              <a:buFont typeface="Times New Roman"/>
              <a:buChar char="●"/>
            </a:pPr>
            <a:r>
              <a:rPr lang="en" sz="2600">
                <a:solidFill>
                  <a:srgbClr val="000000"/>
                </a:solidFill>
                <a:latin typeface="Times New Roman"/>
                <a:ea typeface="Times New Roman"/>
                <a:cs typeface="Times New Roman"/>
                <a:sym typeface="Times New Roman"/>
              </a:rPr>
              <a:t>System Design</a:t>
            </a:r>
            <a:endParaRPr sz="2600">
              <a:solidFill>
                <a:srgbClr val="000000"/>
              </a:solidFill>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
        <p:nvSpPr>
          <p:cNvPr id="78" name="Google Shape;78;g11714e332f1_0_5"/>
          <p:cNvSpPr txBox="1"/>
          <p:nvPr>
            <p:ph idx="2" type="body"/>
          </p:nvPr>
        </p:nvSpPr>
        <p:spPr>
          <a:xfrm>
            <a:off x="4832400" y="1266175"/>
            <a:ext cx="3999900" cy="3302700"/>
          </a:xfrm>
          <a:prstGeom prst="rect">
            <a:avLst/>
          </a:prstGeom>
        </p:spPr>
        <p:txBody>
          <a:bodyPr anchorCtr="0" anchor="t" bIns="91425" lIns="91425" spcFirstLastPara="1" rIns="91425" wrap="square" tIns="91425">
            <a:noAutofit/>
          </a:bodyPr>
          <a:lstStyle/>
          <a:p>
            <a:pPr indent="-393700" lvl="0" marL="457200" rtl="0" algn="l">
              <a:lnSpc>
                <a:spcPct val="150000"/>
              </a:lnSpc>
              <a:spcBef>
                <a:spcPts val="0"/>
              </a:spcBef>
              <a:spcAft>
                <a:spcPts val="0"/>
              </a:spcAft>
              <a:buClr>
                <a:srgbClr val="000000"/>
              </a:buClr>
              <a:buSzPts val="2600"/>
              <a:buFont typeface="Times New Roman"/>
              <a:buChar char="●"/>
            </a:pPr>
            <a:r>
              <a:rPr lang="en" sz="2600">
                <a:solidFill>
                  <a:srgbClr val="000000"/>
                </a:solidFill>
                <a:latin typeface="Times New Roman"/>
                <a:ea typeface="Times New Roman"/>
                <a:cs typeface="Times New Roman"/>
                <a:sym typeface="Times New Roman"/>
              </a:rPr>
              <a:t>DataSet</a:t>
            </a:r>
            <a:endParaRPr sz="2600">
              <a:solidFill>
                <a:srgbClr val="000000"/>
              </a:solidFill>
              <a:latin typeface="Times New Roman"/>
              <a:ea typeface="Times New Roman"/>
              <a:cs typeface="Times New Roman"/>
              <a:sym typeface="Times New Roman"/>
            </a:endParaRPr>
          </a:p>
          <a:p>
            <a:pPr indent="-393700" lvl="0" marL="457200" rtl="0" algn="l">
              <a:lnSpc>
                <a:spcPct val="150000"/>
              </a:lnSpc>
              <a:spcBef>
                <a:spcPts val="0"/>
              </a:spcBef>
              <a:spcAft>
                <a:spcPts val="0"/>
              </a:spcAft>
              <a:buClr>
                <a:srgbClr val="000000"/>
              </a:buClr>
              <a:buSzPts val="2600"/>
              <a:buFont typeface="Times New Roman"/>
              <a:buChar char="●"/>
            </a:pPr>
            <a:r>
              <a:rPr lang="en" sz="2600">
                <a:solidFill>
                  <a:srgbClr val="000000"/>
                </a:solidFill>
                <a:latin typeface="Times New Roman"/>
                <a:ea typeface="Times New Roman"/>
                <a:cs typeface="Times New Roman"/>
                <a:sym typeface="Times New Roman"/>
              </a:rPr>
              <a:t>Algorithms</a:t>
            </a:r>
            <a:endParaRPr sz="2600">
              <a:solidFill>
                <a:srgbClr val="000000"/>
              </a:solidFill>
              <a:latin typeface="Times New Roman"/>
              <a:ea typeface="Times New Roman"/>
              <a:cs typeface="Times New Roman"/>
              <a:sym typeface="Times New Roman"/>
            </a:endParaRPr>
          </a:p>
          <a:p>
            <a:pPr indent="-393700" lvl="0" marL="457200" rtl="0" algn="l">
              <a:lnSpc>
                <a:spcPct val="150000"/>
              </a:lnSpc>
              <a:spcBef>
                <a:spcPts val="0"/>
              </a:spcBef>
              <a:spcAft>
                <a:spcPts val="0"/>
              </a:spcAft>
              <a:buClr>
                <a:srgbClr val="000000"/>
              </a:buClr>
              <a:buSzPts val="2600"/>
              <a:buFont typeface="Times New Roman"/>
              <a:buChar char="●"/>
            </a:pPr>
            <a:r>
              <a:rPr lang="en" sz="2600">
                <a:solidFill>
                  <a:srgbClr val="000000"/>
                </a:solidFill>
                <a:latin typeface="Times New Roman"/>
                <a:ea typeface="Times New Roman"/>
                <a:cs typeface="Times New Roman"/>
                <a:sym typeface="Times New Roman"/>
              </a:rPr>
              <a:t>Implementation</a:t>
            </a:r>
            <a:endParaRPr sz="2600">
              <a:solidFill>
                <a:srgbClr val="000000"/>
              </a:solidFill>
              <a:latin typeface="Times New Roman"/>
              <a:ea typeface="Times New Roman"/>
              <a:cs typeface="Times New Roman"/>
              <a:sym typeface="Times New Roman"/>
            </a:endParaRPr>
          </a:p>
          <a:p>
            <a:pPr indent="-393700" lvl="0" marL="457200" rtl="0" algn="l">
              <a:lnSpc>
                <a:spcPct val="150000"/>
              </a:lnSpc>
              <a:spcBef>
                <a:spcPts val="0"/>
              </a:spcBef>
              <a:spcAft>
                <a:spcPts val="0"/>
              </a:spcAft>
              <a:buClr>
                <a:srgbClr val="000000"/>
              </a:buClr>
              <a:buSzPts val="2600"/>
              <a:buFont typeface="Times New Roman"/>
              <a:buChar char="●"/>
            </a:pPr>
            <a:r>
              <a:rPr lang="en" sz="2600">
                <a:solidFill>
                  <a:srgbClr val="000000"/>
                </a:solidFill>
                <a:latin typeface="Times New Roman"/>
                <a:ea typeface="Times New Roman"/>
                <a:cs typeface="Times New Roman"/>
                <a:sym typeface="Times New Roman"/>
              </a:rPr>
              <a:t>Result</a:t>
            </a:r>
            <a:endParaRPr sz="2600">
              <a:solidFill>
                <a:srgbClr val="000000"/>
              </a:solidFill>
              <a:latin typeface="Times New Roman"/>
              <a:ea typeface="Times New Roman"/>
              <a:cs typeface="Times New Roman"/>
              <a:sym typeface="Times New Roman"/>
            </a:endParaRPr>
          </a:p>
          <a:p>
            <a:pPr indent="-393700" lvl="0" marL="457200" rtl="0" algn="l">
              <a:lnSpc>
                <a:spcPct val="150000"/>
              </a:lnSpc>
              <a:spcBef>
                <a:spcPts val="0"/>
              </a:spcBef>
              <a:spcAft>
                <a:spcPts val="0"/>
              </a:spcAft>
              <a:buClr>
                <a:srgbClr val="000000"/>
              </a:buClr>
              <a:buSzPts val="2600"/>
              <a:buFont typeface="Times New Roman"/>
              <a:buChar char="●"/>
            </a:pPr>
            <a:r>
              <a:rPr lang="en" sz="2600">
                <a:solidFill>
                  <a:srgbClr val="000000"/>
                </a:solidFill>
                <a:latin typeface="Times New Roman"/>
                <a:ea typeface="Times New Roman"/>
                <a:cs typeface="Times New Roman"/>
                <a:sym typeface="Times New Roman"/>
              </a:rPr>
              <a:t>Conclusion</a:t>
            </a:r>
            <a:endParaRPr sz="2600">
              <a:solidFill>
                <a:srgbClr val="000000"/>
              </a:solidFill>
              <a:latin typeface="Times New Roman"/>
              <a:ea typeface="Times New Roman"/>
              <a:cs typeface="Times New Roman"/>
              <a:sym typeface="Times New Roman"/>
            </a:endParaRPr>
          </a:p>
          <a:p>
            <a:pPr indent="0" lvl="0" marL="0" rtl="0" algn="l">
              <a:lnSpc>
                <a:spcPct val="150000"/>
              </a:lnSpc>
              <a:spcBef>
                <a:spcPts val="0"/>
              </a:spcBef>
              <a:spcAft>
                <a:spcPts val="0"/>
              </a:spcAft>
              <a:buNone/>
            </a:pPr>
            <a:r>
              <a:t/>
            </a:r>
            <a:endParaRPr sz="2600">
              <a:solidFill>
                <a:srgbClr val="000000"/>
              </a:solidFill>
              <a:latin typeface="Times New Roman"/>
              <a:ea typeface="Times New Roman"/>
              <a:cs typeface="Times New Roman"/>
              <a:sym typeface="Times New Roman"/>
            </a:endParaRPr>
          </a:p>
          <a:p>
            <a:pPr indent="0" lvl="0" marL="0" rtl="0" algn="l">
              <a:spcBef>
                <a:spcPts val="0"/>
              </a:spcBef>
              <a:spcAft>
                <a:spcPts val="0"/>
              </a:spcAft>
              <a:buNone/>
            </a:pPr>
            <a:r>
              <a:t/>
            </a:r>
            <a:endParaRPr sz="10000">
              <a:solidFill>
                <a:srgbClr val="00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3"/>
          <p:cNvSpPr txBox="1"/>
          <p:nvPr>
            <p:ph type="title"/>
          </p:nvPr>
        </p:nvSpPr>
        <p:spPr>
          <a:xfrm>
            <a:off x="188750" y="204400"/>
            <a:ext cx="8643600" cy="707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990"/>
              <a:buNone/>
            </a:pPr>
            <a:r>
              <a:rPr lang="en" sz="2600">
                <a:solidFill>
                  <a:srgbClr val="000000"/>
                </a:solidFill>
                <a:latin typeface="Times New Roman"/>
                <a:ea typeface="Times New Roman"/>
                <a:cs typeface="Times New Roman"/>
                <a:sym typeface="Times New Roman"/>
              </a:rPr>
              <a:t>INTRODUCTION</a:t>
            </a:r>
            <a:endParaRPr sz="2640"/>
          </a:p>
        </p:txBody>
      </p:sp>
      <p:sp>
        <p:nvSpPr>
          <p:cNvPr id="84" name="Google Shape;84;p3"/>
          <p:cNvSpPr txBox="1"/>
          <p:nvPr>
            <p:ph idx="1" type="body"/>
          </p:nvPr>
        </p:nvSpPr>
        <p:spPr>
          <a:xfrm>
            <a:off x="250200" y="826625"/>
            <a:ext cx="8643600" cy="4344300"/>
          </a:xfrm>
          <a:prstGeom prst="rect">
            <a:avLst/>
          </a:prstGeom>
          <a:noFill/>
          <a:ln>
            <a:noFill/>
          </a:ln>
        </p:spPr>
        <p:txBody>
          <a:bodyPr anchorCtr="0" anchor="t" bIns="91425" lIns="91425" spcFirstLastPara="1" rIns="91425" wrap="square" tIns="91425">
            <a:normAutofit fontScale="25000"/>
          </a:bodyPr>
          <a:lstStyle/>
          <a:p>
            <a:pPr indent="0" lvl="0" marL="0" rtl="0" algn="just">
              <a:lnSpc>
                <a:spcPct val="100000"/>
              </a:lnSpc>
              <a:spcBef>
                <a:spcPts val="0"/>
              </a:spcBef>
              <a:spcAft>
                <a:spcPts val="0"/>
              </a:spcAft>
              <a:buSzPct val="81818"/>
              <a:buNone/>
            </a:pPr>
            <a:r>
              <a:rPr b="1" lang="en" sz="8800">
                <a:solidFill>
                  <a:srgbClr val="000000"/>
                </a:solidFill>
                <a:latin typeface="Times New Roman"/>
                <a:ea typeface="Times New Roman"/>
                <a:cs typeface="Times New Roman"/>
                <a:sym typeface="Times New Roman"/>
              </a:rPr>
              <a:t>MOTIVATION</a:t>
            </a:r>
            <a:endParaRPr b="1" sz="8800">
              <a:solidFill>
                <a:srgbClr val="000000"/>
              </a:solidFill>
              <a:latin typeface="Times New Roman"/>
              <a:ea typeface="Times New Roman"/>
              <a:cs typeface="Times New Roman"/>
              <a:sym typeface="Times New Roman"/>
            </a:endParaRPr>
          </a:p>
          <a:p>
            <a:pPr indent="-342900" lvl="0" marL="457200" rtl="0" algn="just">
              <a:lnSpc>
                <a:spcPct val="100000"/>
              </a:lnSpc>
              <a:spcBef>
                <a:spcPts val="0"/>
              </a:spcBef>
              <a:spcAft>
                <a:spcPts val="0"/>
              </a:spcAft>
              <a:buClr>
                <a:srgbClr val="000000"/>
              </a:buClr>
              <a:buSzPct val="100000"/>
              <a:buFont typeface="Times New Roman"/>
              <a:buChar char="●"/>
            </a:pPr>
            <a:r>
              <a:rPr lang="en" sz="7200">
                <a:solidFill>
                  <a:srgbClr val="000000"/>
                </a:solidFill>
                <a:highlight>
                  <a:schemeClr val="lt1"/>
                </a:highlight>
                <a:latin typeface="Times New Roman"/>
                <a:ea typeface="Times New Roman"/>
                <a:cs typeface="Times New Roman"/>
                <a:sym typeface="Times New Roman"/>
              </a:rPr>
              <a:t>Predictive maintenance  determines the condition of equipment and predicts when maintenance should be performed.</a:t>
            </a:r>
            <a:endParaRPr sz="7200">
              <a:solidFill>
                <a:srgbClr val="000000"/>
              </a:solidFill>
              <a:highlight>
                <a:schemeClr val="lt1"/>
              </a:highlight>
              <a:latin typeface="Times New Roman"/>
              <a:ea typeface="Times New Roman"/>
              <a:cs typeface="Times New Roman"/>
              <a:sym typeface="Times New Roman"/>
            </a:endParaRPr>
          </a:p>
          <a:p>
            <a:pPr indent="-342900" lvl="0" marL="457200" rtl="0" algn="just">
              <a:lnSpc>
                <a:spcPct val="100000"/>
              </a:lnSpc>
              <a:spcBef>
                <a:spcPts val="0"/>
              </a:spcBef>
              <a:spcAft>
                <a:spcPts val="0"/>
              </a:spcAft>
              <a:buClr>
                <a:srgbClr val="000000"/>
              </a:buClr>
              <a:buSzPct val="100000"/>
              <a:buFont typeface="Times New Roman"/>
              <a:buChar char="●"/>
            </a:pPr>
            <a:r>
              <a:rPr lang="en" sz="7200">
                <a:solidFill>
                  <a:srgbClr val="000000"/>
                </a:solidFill>
                <a:highlight>
                  <a:schemeClr val="lt1"/>
                </a:highlight>
                <a:latin typeface="Times New Roman"/>
                <a:ea typeface="Times New Roman"/>
                <a:cs typeface="Times New Roman"/>
                <a:sym typeface="Times New Roman"/>
              </a:rPr>
              <a:t>In predictive maintenance scenarios, data is collected over time to monitor the state of equipment. The goal is to find patterns that can help to predict and ultimately prevent failures.</a:t>
            </a:r>
            <a:endParaRPr sz="7200">
              <a:solidFill>
                <a:srgbClr val="000000"/>
              </a:solidFill>
              <a:highlight>
                <a:schemeClr val="lt1"/>
              </a:highlight>
              <a:latin typeface="Times New Roman"/>
              <a:ea typeface="Times New Roman"/>
              <a:cs typeface="Times New Roman"/>
              <a:sym typeface="Times New Roman"/>
            </a:endParaRPr>
          </a:p>
          <a:p>
            <a:pPr indent="-342900" lvl="0" marL="457200" rtl="0" algn="just">
              <a:lnSpc>
                <a:spcPct val="100000"/>
              </a:lnSpc>
              <a:spcBef>
                <a:spcPts val="0"/>
              </a:spcBef>
              <a:spcAft>
                <a:spcPts val="0"/>
              </a:spcAft>
              <a:buClr>
                <a:srgbClr val="000000"/>
              </a:buClr>
              <a:buSzPct val="100000"/>
              <a:buFont typeface="Times New Roman"/>
              <a:buChar char="●"/>
            </a:pPr>
            <a:r>
              <a:rPr lang="en" sz="7200">
                <a:solidFill>
                  <a:srgbClr val="000000"/>
                </a:solidFill>
                <a:highlight>
                  <a:srgbClr val="FFFFFF"/>
                </a:highlight>
                <a:latin typeface="Times New Roman"/>
                <a:ea typeface="Times New Roman"/>
                <a:cs typeface="Times New Roman"/>
                <a:sym typeface="Times New Roman"/>
              </a:rPr>
              <a:t>In most industries,particularly aviation industries deal with this problem by being pessimistic and through precise maintenance programs which often end up doing the maintenance before it is needed,thereby underutilizing the components which is not an optimal solution from a cost perspective.</a:t>
            </a:r>
            <a:endParaRPr sz="7200">
              <a:solidFill>
                <a:srgbClr val="000000"/>
              </a:solidFill>
              <a:highlight>
                <a:schemeClr val="lt1"/>
              </a:highlight>
              <a:latin typeface="Times New Roman"/>
              <a:ea typeface="Times New Roman"/>
              <a:cs typeface="Times New Roman"/>
              <a:sym typeface="Times New Roman"/>
            </a:endParaRPr>
          </a:p>
          <a:p>
            <a:pPr indent="-342900" lvl="0" marL="457200" rtl="0" algn="just">
              <a:lnSpc>
                <a:spcPct val="100000"/>
              </a:lnSpc>
              <a:spcBef>
                <a:spcPts val="0"/>
              </a:spcBef>
              <a:spcAft>
                <a:spcPts val="0"/>
              </a:spcAft>
              <a:buClr>
                <a:srgbClr val="000000"/>
              </a:buClr>
              <a:buSzPct val="100000"/>
              <a:buFont typeface="Times New Roman"/>
              <a:buChar char="●"/>
            </a:pPr>
            <a:r>
              <a:rPr lang="en" sz="7200">
                <a:solidFill>
                  <a:srgbClr val="000000"/>
                </a:solidFill>
                <a:highlight>
                  <a:srgbClr val="FFFFFF"/>
                </a:highlight>
                <a:latin typeface="Times New Roman"/>
                <a:ea typeface="Times New Roman"/>
                <a:cs typeface="Times New Roman"/>
                <a:sym typeface="Times New Roman"/>
              </a:rPr>
              <a:t>So,the aim of predictive maintenance in aviation is first to predict when an engine failure might occur, and secondly, to prevent the occurrence of the failure by performing maintenance.</a:t>
            </a:r>
            <a:endParaRPr sz="7200">
              <a:solidFill>
                <a:srgbClr val="000000"/>
              </a:solidFill>
              <a:highlight>
                <a:srgbClr val="FFFFFF"/>
              </a:highlight>
              <a:latin typeface="Times New Roman"/>
              <a:ea typeface="Times New Roman"/>
              <a:cs typeface="Times New Roman"/>
              <a:sym typeface="Times New Roman"/>
            </a:endParaRPr>
          </a:p>
          <a:p>
            <a:pPr indent="0" lvl="0" marL="0" rtl="0" algn="just">
              <a:lnSpc>
                <a:spcPct val="100000"/>
              </a:lnSpc>
              <a:spcBef>
                <a:spcPts val="0"/>
              </a:spcBef>
              <a:spcAft>
                <a:spcPts val="0"/>
              </a:spcAft>
              <a:buSzPct val="100000"/>
              <a:buNone/>
            </a:pPr>
            <a:r>
              <a:t/>
            </a:r>
            <a:endParaRPr sz="7200">
              <a:solidFill>
                <a:srgbClr val="000000"/>
              </a:solidFill>
              <a:highlight>
                <a:srgbClr val="FFFFFF"/>
              </a:highlight>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4"/>
          <p:cNvSpPr txBox="1"/>
          <p:nvPr>
            <p:ph type="title"/>
          </p:nvPr>
        </p:nvSpPr>
        <p:spPr>
          <a:xfrm>
            <a:off x="311700" y="400175"/>
            <a:ext cx="8520600" cy="752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SzPct val="166666"/>
              <a:buNone/>
            </a:pPr>
            <a:r>
              <a:rPr lang="en" sz="2400">
                <a:solidFill>
                  <a:srgbClr val="000000"/>
                </a:solidFill>
                <a:latin typeface="Times New Roman"/>
                <a:ea typeface="Times New Roman"/>
                <a:cs typeface="Times New Roman"/>
                <a:sym typeface="Times New Roman"/>
              </a:rPr>
              <a:t>PROBLEM STATEMENT</a:t>
            </a:r>
            <a:endParaRPr sz="2400">
              <a:solidFill>
                <a:srgbClr val="000000"/>
              </a:solidFill>
              <a:latin typeface="Times New Roman"/>
              <a:ea typeface="Times New Roman"/>
              <a:cs typeface="Times New Roman"/>
              <a:sym typeface="Times New Roman"/>
            </a:endParaRPr>
          </a:p>
          <a:p>
            <a:pPr indent="0" lvl="0" marL="0" rtl="0" algn="l">
              <a:lnSpc>
                <a:spcPct val="100000"/>
              </a:lnSpc>
              <a:spcBef>
                <a:spcPts val="1200"/>
              </a:spcBef>
              <a:spcAft>
                <a:spcPts val="0"/>
              </a:spcAft>
              <a:buSzPct val="111111"/>
              <a:buNone/>
            </a:pPr>
            <a:r>
              <a:t/>
            </a:r>
            <a:endParaRPr/>
          </a:p>
        </p:txBody>
      </p:sp>
      <p:sp>
        <p:nvSpPr>
          <p:cNvPr id="90" name="Google Shape;90;p4"/>
          <p:cNvSpPr txBox="1"/>
          <p:nvPr>
            <p:ph idx="1" type="body"/>
          </p:nvPr>
        </p:nvSpPr>
        <p:spPr>
          <a:xfrm>
            <a:off x="311700" y="966375"/>
            <a:ext cx="8520600" cy="3506100"/>
          </a:xfrm>
          <a:prstGeom prst="rect">
            <a:avLst/>
          </a:prstGeom>
          <a:noFill/>
          <a:ln>
            <a:noFill/>
          </a:ln>
        </p:spPr>
        <p:txBody>
          <a:bodyPr anchorCtr="0" anchor="t" bIns="91425" lIns="91425" spcFirstLastPara="1" rIns="91425" wrap="square" tIns="91425">
            <a:normAutofit/>
          </a:bodyPr>
          <a:lstStyle/>
          <a:p>
            <a:pPr indent="0" lvl="0" marL="0" rtl="0" algn="just">
              <a:lnSpc>
                <a:spcPct val="150000"/>
              </a:lnSpc>
              <a:spcBef>
                <a:spcPts val="0"/>
              </a:spcBef>
              <a:spcAft>
                <a:spcPts val="1200"/>
              </a:spcAft>
              <a:buSzPts val="1800"/>
              <a:buNone/>
            </a:pPr>
            <a:r>
              <a:rPr lang="en" sz="1900">
                <a:solidFill>
                  <a:srgbClr val="000000"/>
                </a:solidFill>
                <a:highlight>
                  <a:srgbClr val="FFFFFF"/>
                </a:highlight>
                <a:latin typeface="Times New Roman"/>
                <a:ea typeface="Times New Roman"/>
                <a:cs typeface="Times New Roman"/>
                <a:sym typeface="Times New Roman"/>
              </a:rPr>
              <a:t>Failure prediction is a major topic in predictive maintenance in many industries. Aircrafts are particularly interested in predicting equipment failures in advance so that they can enhance operations and reduce delays.Observing engine's health and condition through sensors and telemetry data is assumed to facilitate this type of maintenance by using machine learning algorithms.</a:t>
            </a:r>
            <a:endParaRPr sz="1900">
              <a:solidFill>
                <a:srgbClr val="000000"/>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g132517703d8_0_14"/>
          <p:cNvSpPr txBox="1"/>
          <p:nvPr>
            <p:ph type="title"/>
          </p:nvPr>
        </p:nvSpPr>
        <p:spPr>
          <a:xfrm>
            <a:off x="364000" y="187350"/>
            <a:ext cx="8520600" cy="44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2600"/>
              <a:buFont typeface="Arial"/>
              <a:buNone/>
            </a:pPr>
            <a:r>
              <a:rPr lang="en" sz="1600">
                <a:solidFill>
                  <a:srgbClr val="000000"/>
                </a:solidFill>
                <a:latin typeface="Times New Roman"/>
                <a:ea typeface="Times New Roman"/>
                <a:cs typeface="Times New Roman"/>
                <a:sym typeface="Times New Roman"/>
              </a:rPr>
              <a:t>LITERATURE SURVEY</a:t>
            </a:r>
            <a:endParaRPr sz="1600"/>
          </a:p>
        </p:txBody>
      </p:sp>
      <p:graphicFrame>
        <p:nvGraphicFramePr>
          <p:cNvPr id="96" name="Google Shape;96;g132517703d8_0_14"/>
          <p:cNvGraphicFramePr/>
          <p:nvPr/>
        </p:nvGraphicFramePr>
        <p:xfrm>
          <a:off x="285550" y="572575"/>
          <a:ext cx="3000000" cy="3000000"/>
        </p:xfrm>
        <a:graphic>
          <a:graphicData uri="http://schemas.openxmlformats.org/drawingml/2006/table">
            <a:tbl>
              <a:tblPr>
                <a:noFill/>
                <a:tableStyleId>{1639C0CA-00BE-4649-8AB1-6A30D48E9C79}</a:tableStyleId>
              </a:tblPr>
              <a:tblGrid>
                <a:gridCol w="545200"/>
                <a:gridCol w="1336025"/>
                <a:gridCol w="765200"/>
                <a:gridCol w="1179850"/>
                <a:gridCol w="2471300"/>
                <a:gridCol w="1778025"/>
              </a:tblGrid>
              <a:tr h="594325">
                <a:tc>
                  <a:txBody>
                    <a:bodyPr/>
                    <a:lstStyle/>
                    <a:p>
                      <a:pPr indent="0" lvl="0" marL="0" rtl="0" algn="ctr">
                        <a:spcBef>
                          <a:spcPts val="0"/>
                        </a:spcBef>
                        <a:spcAft>
                          <a:spcPts val="0"/>
                        </a:spcAft>
                        <a:buClr>
                          <a:srgbClr val="000000"/>
                        </a:buClr>
                        <a:buSzPts val="1500"/>
                        <a:buFont typeface="Arial"/>
                        <a:buNone/>
                      </a:pPr>
                      <a:r>
                        <a:rPr b="1" lang="en" sz="1100">
                          <a:latin typeface="Times New Roman"/>
                          <a:ea typeface="Times New Roman"/>
                          <a:cs typeface="Times New Roman"/>
                          <a:sym typeface="Times New Roman"/>
                        </a:rPr>
                        <a:t>S.No.</a:t>
                      </a:r>
                      <a:endParaRPr sz="11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Clr>
                          <a:srgbClr val="000000"/>
                        </a:buClr>
                        <a:buSzPts val="1500"/>
                        <a:buFont typeface="Arial"/>
                        <a:buNone/>
                      </a:pPr>
                      <a:r>
                        <a:rPr b="1" lang="en" sz="1100">
                          <a:latin typeface="Times New Roman"/>
                          <a:ea typeface="Times New Roman"/>
                          <a:cs typeface="Times New Roman"/>
                          <a:sym typeface="Times New Roman"/>
                        </a:rPr>
                        <a:t>Authors and Year</a:t>
                      </a:r>
                      <a:endParaRPr sz="11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Clr>
                          <a:srgbClr val="000000"/>
                        </a:buClr>
                        <a:buSzPts val="1500"/>
                        <a:buFont typeface="Arial"/>
                        <a:buNone/>
                      </a:pPr>
                      <a:r>
                        <a:rPr b="1" lang="en" sz="1100">
                          <a:latin typeface="Times New Roman"/>
                          <a:ea typeface="Times New Roman"/>
                          <a:cs typeface="Times New Roman"/>
                          <a:sym typeface="Times New Roman"/>
                        </a:rPr>
                        <a:t>Journal</a:t>
                      </a:r>
                      <a:endParaRPr sz="11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Clr>
                          <a:srgbClr val="000000"/>
                        </a:buClr>
                        <a:buSzPts val="1500"/>
                        <a:buFont typeface="Arial"/>
                        <a:buNone/>
                      </a:pPr>
                      <a:r>
                        <a:rPr b="1" lang="en" sz="1100">
                          <a:latin typeface="Times New Roman"/>
                          <a:ea typeface="Times New Roman"/>
                          <a:cs typeface="Times New Roman"/>
                          <a:sym typeface="Times New Roman"/>
                        </a:rPr>
                        <a:t>Title</a:t>
                      </a:r>
                      <a:endParaRPr sz="11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Clr>
                          <a:srgbClr val="000000"/>
                        </a:buClr>
                        <a:buSzPts val="1500"/>
                        <a:buFont typeface="Arial"/>
                        <a:buNone/>
                      </a:pPr>
                      <a:r>
                        <a:rPr b="1" lang="en" sz="1100">
                          <a:latin typeface="Times New Roman"/>
                          <a:ea typeface="Times New Roman"/>
                          <a:cs typeface="Times New Roman"/>
                          <a:sym typeface="Times New Roman"/>
                        </a:rPr>
                        <a:t>Methodology</a:t>
                      </a:r>
                      <a:endParaRPr sz="11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Clr>
                          <a:srgbClr val="000000"/>
                        </a:buClr>
                        <a:buSzPts val="1500"/>
                        <a:buFont typeface="Arial"/>
                        <a:buNone/>
                      </a:pPr>
                      <a:r>
                        <a:rPr b="1" lang="en" sz="1100">
                          <a:latin typeface="Times New Roman"/>
                          <a:ea typeface="Times New Roman"/>
                          <a:cs typeface="Times New Roman"/>
                          <a:sym typeface="Times New Roman"/>
                        </a:rPr>
                        <a:t>Limitations or Future Scope</a:t>
                      </a:r>
                      <a:endParaRPr sz="1100">
                        <a:latin typeface="Times New Roman"/>
                        <a:ea typeface="Times New Roman"/>
                        <a:cs typeface="Times New Roman"/>
                        <a:sym typeface="Times New Roman"/>
                      </a:endParaRPr>
                    </a:p>
                  </a:txBody>
                  <a:tcPr marT="91425" marB="91425" marR="91425" marL="91425"/>
                </a:tc>
              </a:tr>
              <a:tr h="841200">
                <a:tc>
                  <a:txBody>
                    <a:bodyPr/>
                    <a:lstStyle/>
                    <a:p>
                      <a:pPr indent="0" lvl="0" marL="0" rtl="0" algn="ctr">
                        <a:spcBef>
                          <a:spcPts val="0"/>
                        </a:spcBef>
                        <a:spcAft>
                          <a:spcPts val="0"/>
                        </a:spcAft>
                        <a:buNone/>
                      </a:pPr>
                      <a:r>
                        <a:rPr lang="en" sz="1000">
                          <a:latin typeface="Times New Roman"/>
                          <a:ea typeface="Times New Roman"/>
                          <a:cs typeface="Times New Roman"/>
                          <a:sym typeface="Times New Roman"/>
                        </a:rPr>
                        <a:t>1</a:t>
                      </a:r>
                      <a:endParaRPr sz="1000">
                        <a:latin typeface="Times New Roman"/>
                        <a:ea typeface="Times New Roman"/>
                        <a:cs typeface="Times New Roman"/>
                        <a:sym typeface="Times New Roman"/>
                      </a:endParaRPr>
                    </a:p>
                  </a:txBody>
                  <a:tcPr marT="91425" marB="91425" marR="91425" marL="91425"/>
                </a:tc>
                <a:tc>
                  <a:txBody>
                    <a:bodyPr/>
                    <a:lstStyle/>
                    <a:p>
                      <a:pPr indent="0" lvl="0" marL="0" rtl="0" algn="just">
                        <a:spcBef>
                          <a:spcPts val="0"/>
                        </a:spcBef>
                        <a:spcAft>
                          <a:spcPts val="0"/>
                        </a:spcAft>
                        <a:buNone/>
                      </a:pPr>
                      <a:r>
                        <a:rPr lang="en" sz="1000">
                          <a:latin typeface="Times New Roman"/>
                          <a:ea typeface="Times New Roman"/>
                          <a:cs typeface="Times New Roman"/>
                          <a:sym typeface="Times New Roman"/>
                        </a:rPr>
                        <a:t>AdePitra Hermawan, Dong-Seong Kim and Jae-Min Lee.2020</a:t>
                      </a:r>
                      <a:endParaRPr sz="1000">
                        <a:latin typeface="Times New Roman"/>
                        <a:ea typeface="Times New Roman"/>
                        <a:cs typeface="Times New Roman"/>
                        <a:sym typeface="Times New Roman"/>
                      </a:endParaRPr>
                    </a:p>
                  </a:txBody>
                  <a:tcPr marT="91425" marB="91425" marR="91425" marL="91425"/>
                </a:tc>
                <a:tc>
                  <a:txBody>
                    <a:bodyPr/>
                    <a:lstStyle/>
                    <a:p>
                      <a:pPr indent="0" lvl="0" marL="0" rtl="0" algn="just">
                        <a:spcBef>
                          <a:spcPts val="0"/>
                        </a:spcBef>
                        <a:spcAft>
                          <a:spcPts val="0"/>
                        </a:spcAft>
                        <a:buNone/>
                      </a:pPr>
                      <a:r>
                        <a:rPr lang="en" sz="1000">
                          <a:latin typeface="Times New Roman"/>
                          <a:ea typeface="Times New Roman"/>
                          <a:cs typeface="Times New Roman"/>
                          <a:sym typeface="Times New Roman"/>
                        </a:rPr>
                        <a:t>IEEE </a:t>
                      </a:r>
                      <a:endParaRPr sz="1000">
                        <a:latin typeface="Times New Roman"/>
                        <a:ea typeface="Times New Roman"/>
                        <a:cs typeface="Times New Roman"/>
                        <a:sym typeface="Times New Roman"/>
                      </a:endParaRPr>
                    </a:p>
                    <a:p>
                      <a:pPr indent="0" lvl="0" marL="0" rtl="0" algn="l">
                        <a:spcBef>
                          <a:spcPts val="0"/>
                        </a:spcBef>
                        <a:spcAft>
                          <a:spcPts val="0"/>
                        </a:spcAft>
                        <a:buNone/>
                      </a:pPr>
                      <a:r>
                        <a:t/>
                      </a:r>
                      <a:endParaRPr sz="1000">
                        <a:latin typeface="Times New Roman"/>
                        <a:ea typeface="Times New Roman"/>
                        <a:cs typeface="Times New Roman"/>
                        <a:sym typeface="Times New Roman"/>
                      </a:endParaRPr>
                    </a:p>
                  </a:txBody>
                  <a:tcPr marT="91425" marB="91425" marR="91425" marL="91425"/>
                </a:tc>
                <a:tc>
                  <a:txBody>
                    <a:bodyPr/>
                    <a:lstStyle/>
                    <a:p>
                      <a:pPr indent="0" lvl="0" marL="0" rtl="0" algn="just">
                        <a:spcBef>
                          <a:spcPts val="0"/>
                        </a:spcBef>
                        <a:spcAft>
                          <a:spcPts val="0"/>
                        </a:spcAft>
                        <a:buNone/>
                      </a:pPr>
                      <a:r>
                        <a:rPr lang="en" sz="1000">
                          <a:latin typeface="Times New Roman"/>
                          <a:ea typeface="Times New Roman"/>
                          <a:cs typeface="Times New Roman"/>
                          <a:sym typeface="Times New Roman"/>
                        </a:rPr>
                        <a:t>Predictive Maintenance of Aircraft Engine using</a:t>
                      </a:r>
                      <a:endParaRPr sz="1000">
                        <a:latin typeface="Times New Roman"/>
                        <a:ea typeface="Times New Roman"/>
                        <a:cs typeface="Times New Roman"/>
                        <a:sym typeface="Times New Roman"/>
                      </a:endParaRPr>
                    </a:p>
                    <a:p>
                      <a:pPr indent="0" lvl="0" marL="0" rtl="0" algn="just">
                        <a:spcBef>
                          <a:spcPts val="0"/>
                        </a:spcBef>
                        <a:spcAft>
                          <a:spcPts val="0"/>
                        </a:spcAft>
                        <a:buNone/>
                      </a:pPr>
                      <a:r>
                        <a:rPr lang="en" sz="1000">
                          <a:latin typeface="Times New Roman"/>
                          <a:ea typeface="Times New Roman"/>
                          <a:cs typeface="Times New Roman"/>
                          <a:sym typeface="Times New Roman"/>
                        </a:rPr>
                        <a:t>Deep Learning Technique</a:t>
                      </a:r>
                      <a:endParaRPr sz="1000">
                        <a:latin typeface="Times New Roman"/>
                        <a:ea typeface="Times New Roman"/>
                        <a:cs typeface="Times New Roman"/>
                        <a:sym typeface="Times New Roman"/>
                      </a:endParaRPr>
                    </a:p>
                  </a:txBody>
                  <a:tcPr marT="91425" marB="91425" marR="91425" marL="91425"/>
                </a:tc>
                <a:tc>
                  <a:txBody>
                    <a:bodyPr/>
                    <a:lstStyle/>
                    <a:p>
                      <a:pPr indent="0" lvl="0" marL="0" rtl="0" algn="just">
                        <a:lnSpc>
                          <a:spcPct val="115000"/>
                        </a:lnSpc>
                        <a:spcBef>
                          <a:spcPts val="0"/>
                        </a:spcBef>
                        <a:spcAft>
                          <a:spcPts val="0"/>
                        </a:spcAft>
                        <a:buNone/>
                      </a:pPr>
                      <a:r>
                        <a:rPr lang="en" sz="1000">
                          <a:latin typeface="Times New Roman"/>
                          <a:ea typeface="Times New Roman"/>
                          <a:cs typeface="Times New Roman"/>
                          <a:sym typeface="Times New Roman"/>
                        </a:rPr>
                        <a:t>In this paper LSTM algorithm is used in the learning the behavior of the historical data and providing the accurate information about the time to failure of the system.</a:t>
                      </a:r>
                      <a:endParaRPr sz="1000">
                        <a:latin typeface="Times New Roman"/>
                        <a:ea typeface="Times New Roman"/>
                        <a:cs typeface="Times New Roman"/>
                        <a:sym typeface="Times New Roman"/>
                      </a:endParaRPr>
                    </a:p>
                  </a:txBody>
                  <a:tcPr marT="91425" marB="91425" marR="91425" marL="91425"/>
                </a:tc>
                <a:tc>
                  <a:txBody>
                    <a:bodyPr/>
                    <a:lstStyle/>
                    <a:p>
                      <a:pPr indent="0" lvl="0" marL="0" rtl="0" algn="just">
                        <a:lnSpc>
                          <a:spcPct val="115000"/>
                        </a:lnSpc>
                        <a:spcBef>
                          <a:spcPts val="0"/>
                        </a:spcBef>
                        <a:spcAft>
                          <a:spcPts val="0"/>
                        </a:spcAft>
                        <a:buNone/>
                      </a:pPr>
                      <a:r>
                        <a:rPr lang="en" sz="1000">
                          <a:latin typeface="Times New Roman"/>
                          <a:ea typeface="Times New Roman"/>
                          <a:cs typeface="Times New Roman"/>
                          <a:sym typeface="Times New Roman"/>
                        </a:rPr>
                        <a:t>Only RUL has been predicted,the cycle in which the engine failure might occur is not predicted for more accuracy.</a:t>
                      </a:r>
                      <a:endParaRPr sz="1000">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t/>
                      </a:r>
                      <a:endParaRPr sz="1000">
                        <a:latin typeface="Times New Roman"/>
                        <a:ea typeface="Times New Roman"/>
                        <a:cs typeface="Times New Roman"/>
                        <a:sym typeface="Times New Roman"/>
                      </a:endParaRPr>
                    </a:p>
                  </a:txBody>
                  <a:tcPr marT="91425" marB="91425" marR="91425" marL="91425"/>
                </a:tc>
              </a:tr>
              <a:tr h="1181625">
                <a:tc>
                  <a:txBody>
                    <a:bodyPr/>
                    <a:lstStyle/>
                    <a:p>
                      <a:pPr indent="0" lvl="0" marL="0" rtl="0" algn="ctr">
                        <a:spcBef>
                          <a:spcPts val="0"/>
                        </a:spcBef>
                        <a:spcAft>
                          <a:spcPts val="0"/>
                        </a:spcAft>
                        <a:buNone/>
                      </a:pPr>
                      <a:r>
                        <a:rPr lang="en" sz="1000">
                          <a:latin typeface="Times New Roman"/>
                          <a:ea typeface="Times New Roman"/>
                          <a:cs typeface="Times New Roman"/>
                          <a:sym typeface="Times New Roman"/>
                        </a:rPr>
                        <a:t>2</a:t>
                      </a:r>
                      <a:endParaRPr sz="1000">
                        <a:latin typeface="Times New Roman"/>
                        <a:ea typeface="Times New Roman"/>
                        <a:cs typeface="Times New Roman"/>
                        <a:sym typeface="Times New Roman"/>
                      </a:endParaRPr>
                    </a:p>
                  </a:txBody>
                  <a:tcPr marT="91425" marB="91425" marR="91425" marL="91425"/>
                </a:tc>
                <a:tc>
                  <a:txBody>
                    <a:bodyPr/>
                    <a:lstStyle/>
                    <a:p>
                      <a:pPr indent="0" lvl="0" marL="0" rtl="0" algn="just">
                        <a:lnSpc>
                          <a:spcPct val="115000"/>
                        </a:lnSpc>
                        <a:spcBef>
                          <a:spcPts val="0"/>
                        </a:spcBef>
                        <a:spcAft>
                          <a:spcPts val="0"/>
                        </a:spcAft>
                        <a:buNone/>
                      </a:pPr>
                      <a:r>
                        <a:rPr lang="en" sz="1000">
                          <a:latin typeface="Times New Roman"/>
                          <a:ea typeface="Times New Roman"/>
                          <a:cs typeface="Times New Roman"/>
                          <a:sym typeface="Times New Roman"/>
                        </a:rPr>
                        <a:t>Pengcheng Xia , Yixiang HuangPeng,Li,Chengliang Liu, and Lun Shi</a:t>
                      </a:r>
                      <a:endParaRPr sz="1000">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1000">
                          <a:latin typeface="Times New Roman"/>
                          <a:ea typeface="Times New Roman"/>
                          <a:cs typeface="Times New Roman"/>
                          <a:sym typeface="Times New Roman"/>
                        </a:rPr>
                        <a:t>  2022</a:t>
                      </a:r>
                      <a:endParaRPr sz="1000">
                        <a:latin typeface="Times New Roman"/>
                        <a:ea typeface="Times New Roman"/>
                        <a:cs typeface="Times New Roman"/>
                        <a:sym typeface="Times New Roman"/>
                      </a:endParaRPr>
                    </a:p>
                    <a:p>
                      <a:pPr indent="0" lvl="0" marL="0" rtl="0" algn="l">
                        <a:spcBef>
                          <a:spcPts val="0"/>
                        </a:spcBef>
                        <a:spcAft>
                          <a:spcPts val="0"/>
                        </a:spcAft>
                        <a:buNone/>
                      </a:pPr>
                      <a:r>
                        <a:t/>
                      </a:r>
                      <a:endParaRPr sz="1000">
                        <a:latin typeface="Times New Roman"/>
                        <a:ea typeface="Times New Roman"/>
                        <a:cs typeface="Times New Roman"/>
                        <a:sym typeface="Times New Roman"/>
                      </a:endParaRPr>
                    </a:p>
                  </a:txBody>
                  <a:tcPr marT="91425" marB="91425" marR="91425" marL="91425"/>
                </a:tc>
                <a:tc>
                  <a:txBody>
                    <a:bodyPr/>
                    <a:lstStyle/>
                    <a:p>
                      <a:pPr indent="0" lvl="0" marL="0" rtl="0" algn="just">
                        <a:lnSpc>
                          <a:spcPct val="115000"/>
                        </a:lnSpc>
                        <a:spcBef>
                          <a:spcPts val="0"/>
                        </a:spcBef>
                        <a:spcAft>
                          <a:spcPts val="0"/>
                        </a:spcAft>
                        <a:buNone/>
                      </a:pPr>
                      <a:r>
                        <a:rPr lang="en" sz="1000">
                          <a:solidFill>
                            <a:srgbClr val="292929"/>
                          </a:solidFill>
                          <a:highlight>
                            <a:schemeClr val="lt1"/>
                          </a:highlight>
                          <a:latin typeface="Times New Roman"/>
                          <a:ea typeface="Times New Roman"/>
                          <a:cs typeface="Times New Roman"/>
                          <a:sym typeface="Times New Roman"/>
                        </a:rPr>
                        <a:t>IEEE Transactions On Industrial Informatics.</a:t>
                      </a:r>
                      <a:endParaRPr sz="1000">
                        <a:latin typeface="Times New Roman"/>
                        <a:ea typeface="Times New Roman"/>
                        <a:cs typeface="Times New Roman"/>
                        <a:sym typeface="Times New Roman"/>
                      </a:endParaRPr>
                    </a:p>
                  </a:txBody>
                  <a:tcPr marT="91425" marB="91425" marR="91425" marL="91425"/>
                </a:tc>
                <a:tc>
                  <a:txBody>
                    <a:bodyPr/>
                    <a:lstStyle/>
                    <a:p>
                      <a:pPr indent="0" lvl="0" marL="0" rtl="0" algn="just">
                        <a:lnSpc>
                          <a:spcPct val="115000"/>
                        </a:lnSpc>
                        <a:spcBef>
                          <a:spcPts val="0"/>
                        </a:spcBef>
                        <a:spcAft>
                          <a:spcPts val="0"/>
                        </a:spcAft>
                        <a:buNone/>
                      </a:pPr>
                      <a:r>
                        <a:rPr lang="en" sz="1000">
                          <a:solidFill>
                            <a:srgbClr val="111111"/>
                          </a:solidFill>
                          <a:highlight>
                            <a:schemeClr val="lt1"/>
                          </a:highlight>
                          <a:latin typeface="Times New Roman"/>
                          <a:ea typeface="Times New Roman"/>
                          <a:cs typeface="Times New Roman"/>
                          <a:sym typeface="Times New Roman"/>
                        </a:rPr>
                        <a:t>Fault Knowledge Transfer Assisted Ensemble</a:t>
                      </a:r>
                      <a:endParaRPr sz="1000">
                        <a:solidFill>
                          <a:srgbClr val="111111"/>
                        </a:solidFill>
                        <a:highlight>
                          <a:schemeClr val="lt1"/>
                        </a:highlight>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 sz="1000">
                          <a:solidFill>
                            <a:srgbClr val="111111"/>
                          </a:solidFill>
                          <a:highlight>
                            <a:schemeClr val="lt1"/>
                          </a:highlight>
                          <a:latin typeface="Times New Roman"/>
                          <a:ea typeface="Times New Roman"/>
                          <a:cs typeface="Times New Roman"/>
                          <a:sym typeface="Times New Roman"/>
                        </a:rPr>
                        <a:t>Method for Remaining Useful Life Prediction</a:t>
                      </a:r>
                      <a:endParaRPr sz="1000">
                        <a:solidFill>
                          <a:srgbClr val="111111"/>
                        </a:solidFill>
                        <a:highlight>
                          <a:schemeClr val="lt1"/>
                        </a:highlight>
                        <a:latin typeface="Times New Roman"/>
                        <a:ea typeface="Times New Roman"/>
                        <a:cs typeface="Times New Roman"/>
                        <a:sym typeface="Times New Roman"/>
                      </a:endParaRPr>
                    </a:p>
                    <a:p>
                      <a:pPr indent="0" lvl="0" marL="0" rtl="0" algn="l">
                        <a:spcBef>
                          <a:spcPts val="0"/>
                        </a:spcBef>
                        <a:spcAft>
                          <a:spcPts val="0"/>
                        </a:spcAft>
                        <a:buNone/>
                      </a:pPr>
                      <a:r>
                        <a:t/>
                      </a:r>
                      <a:endParaRPr sz="1000">
                        <a:latin typeface="Times New Roman"/>
                        <a:ea typeface="Times New Roman"/>
                        <a:cs typeface="Times New Roman"/>
                        <a:sym typeface="Times New Roman"/>
                      </a:endParaRPr>
                    </a:p>
                  </a:txBody>
                  <a:tcPr marT="91425" marB="91425" marR="91425" marL="91425"/>
                </a:tc>
                <a:tc>
                  <a:txBody>
                    <a:bodyPr/>
                    <a:lstStyle/>
                    <a:p>
                      <a:pPr indent="0" lvl="0" marL="0" rtl="0" algn="just">
                        <a:lnSpc>
                          <a:spcPct val="115000"/>
                        </a:lnSpc>
                        <a:spcBef>
                          <a:spcPts val="0"/>
                        </a:spcBef>
                        <a:spcAft>
                          <a:spcPts val="0"/>
                        </a:spcAft>
                        <a:buNone/>
                      </a:pPr>
                      <a:r>
                        <a:rPr lang="en" sz="1000">
                          <a:latin typeface="Times New Roman"/>
                          <a:ea typeface="Times New Roman"/>
                          <a:cs typeface="Times New Roman"/>
                          <a:sym typeface="Times New Roman"/>
                        </a:rPr>
                        <a:t>Paper represents a novel fault information assisted RUL prediction method based on a convolutional long  Short-term memory (LSTM) ensemble network.</a:t>
                      </a:r>
                      <a:endParaRPr sz="1000">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t/>
                      </a:r>
                      <a:endParaRPr sz="1000">
                        <a:latin typeface="Times New Roman"/>
                        <a:ea typeface="Times New Roman"/>
                        <a:cs typeface="Times New Roman"/>
                        <a:sym typeface="Times New Roman"/>
                      </a:endParaRPr>
                    </a:p>
                    <a:p>
                      <a:pPr indent="0" lvl="0" marL="0" rtl="0" algn="l">
                        <a:spcBef>
                          <a:spcPts val="0"/>
                        </a:spcBef>
                        <a:spcAft>
                          <a:spcPts val="0"/>
                        </a:spcAft>
                        <a:buNone/>
                      </a:pPr>
                      <a:r>
                        <a:t/>
                      </a:r>
                      <a:endParaRPr sz="1000">
                        <a:latin typeface="Times New Roman"/>
                        <a:ea typeface="Times New Roman"/>
                        <a:cs typeface="Times New Roman"/>
                        <a:sym typeface="Times New Roman"/>
                      </a:endParaRPr>
                    </a:p>
                  </a:txBody>
                  <a:tcPr marT="91425" marB="91425" marR="91425" marL="91425"/>
                </a:tc>
                <a:tc>
                  <a:txBody>
                    <a:bodyPr/>
                    <a:lstStyle/>
                    <a:p>
                      <a:pPr indent="0" lvl="0" marL="0" rtl="0" algn="just">
                        <a:spcBef>
                          <a:spcPts val="0"/>
                        </a:spcBef>
                        <a:spcAft>
                          <a:spcPts val="0"/>
                        </a:spcAft>
                        <a:buNone/>
                      </a:pPr>
                      <a:r>
                        <a:rPr lang="en" sz="1000">
                          <a:latin typeface="Times New Roman"/>
                          <a:ea typeface="Times New Roman"/>
                          <a:cs typeface="Times New Roman"/>
                          <a:sym typeface="Times New Roman"/>
                        </a:rPr>
                        <a:t>It is assumed that a fault dataset containing all potential fault types is available,they have not considered historical data of engine </a:t>
                      </a:r>
                      <a:r>
                        <a:rPr lang="en" sz="1000">
                          <a:latin typeface="Times New Roman"/>
                          <a:ea typeface="Times New Roman"/>
                          <a:cs typeface="Times New Roman"/>
                          <a:sym typeface="Times New Roman"/>
                        </a:rPr>
                        <a:t>failure</a:t>
                      </a:r>
                      <a:r>
                        <a:rPr lang="en" sz="1000">
                          <a:latin typeface="Times New Roman"/>
                          <a:ea typeface="Times New Roman"/>
                          <a:cs typeface="Times New Roman"/>
                          <a:sym typeface="Times New Roman"/>
                        </a:rPr>
                        <a:t>.</a:t>
                      </a:r>
                      <a:endParaRPr sz="1000">
                        <a:latin typeface="Times New Roman"/>
                        <a:ea typeface="Times New Roman"/>
                        <a:cs typeface="Times New Roman"/>
                        <a:sym typeface="Times New Roman"/>
                      </a:endParaRPr>
                    </a:p>
                  </a:txBody>
                  <a:tcPr marT="91425" marB="91425" marR="91425" marL="91425"/>
                </a:tc>
              </a:tr>
              <a:tr h="1322425">
                <a:tc>
                  <a:txBody>
                    <a:bodyPr/>
                    <a:lstStyle/>
                    <a:p>
                      <a:pPr indent="0" lvl="0" marL="0" rtl="0" algn="ctr">
                        <a:spcBef>
                          <a:spcPts val="0"/>
                        </a:spcBef>
                        <a:spcAft>
                          <a:spcPts val="0"/>
                        </a:spcAft>
                        <a:buNone/>
                      </a:pPr>
                      <a:r>
                        <a:rPr lang="en" sz="1000">
                          <a:latin typeface="Times New Roman"/>
                          <a:ea typeface="Times New Roman"/>
                          <a:cs typeface="Times New Roman"/>
                          <a:sym typeface="Times New Roman"/>
                        </a:rPr>
                        <a:t>3</a:t>
                      </a:r>
                      <a:endParaRPr sz="10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000">
                          <a:solidFill>
                            <a:srgbClr val="212121"/>
                          </a:solidFill>
                          <a:latin typeface="Times New Roman"/>
                          <a:ea typeface="Times New Roman"/>
                          <a:cs typeface="Times New Roman"/>
                          <a:sym typeface="Times New Roman"/>
                        </a:rPr>
                        <a:t>Deepankar Singh, Mithilesh Kumar, K.V. Arya and Sunil Kumar</a:t>
                      </a:r>
                      <a:endParaRPr sz="1000">
                        <a:solidFill>
                          <a:srgbClr val="212121"/>
                        </a:solidFill>
                        <a:latin typeface="Times New Roman"/>
                        <a:ea typeface="Times New Roman"/>
                        <a:cs typeface="Times New Roman"/>
                        <a:sym typeface="Times New Roman"/>
                      </a:endParaRPr>
                    </a:p>
                    <a:p>
                      <a:pPr indent="0" lvl="0" marL="0" rtl="0" algn="ctr">
                        <a:spcBef>
                          <a:spcPts val="0"/>
                        </a:spcBef>
                        <a:spcAft>
                          <a:spcPts val="0"/>
                        </a:spcAft>
                        <a:buNone/>
                      </a:pPr>
                      <a:r>
                        <a:t/>
                      </a:r>
                      <a:endParaRPr sz="1000">
                        <a:solidFill>
                          <a:srgbClr val="212121"/>
                        </a:solidFill>
                        <a:latin typeface="Times New Roman"/>
                        <a:ea typeface="Times New Roman"/>
                        <a:cs typeface="Times New Roman"/>
                        <a:sym typeface="Times New Roman"/>
                      </a:endParaRPr>
                    </a:p>
                    <a:p>
                      <a:pPr indent="0" lvl="0" marL="0" rtl="0" algn="l">
                        <a:spcBef>
                          <a:spcPts val="0"/>
                        </a:spcBef>
                        <a:spcAft>
                          <a:spcPts val="0"/>
                        </a:spcAft>
                        <a:buNone/>
                      </a:pPr>
                      <a:r>
                        <a:rPr lang="en" sz="1000">
                          <a:solidFill>
                            <a:srgbClr val="212121"/>
                          </a:solidFill>
                          <a:latin typeface="Times New Roman"/>
                          <a:ea typeface="Times New Roman"/>
                          <a:cs typeface="Times New Roman"/>
                          <a:sym typeface="Times New Roman"/>
                        </a:rPr>
                        <a:t>2020</a:t>
                      </a:r>
                      <a:endParaRPr sz="1000">
                        <a:solidFill>
                          <a:srgbClr val="212121"/>
                        </a:solidFill>
                        <a:latin typeface="Times New Roman"/>
                        <a:ea typeface="Times New Roman"/>
                        <a:cs typeface="Times New Roman"/>
                        <a:sym typeface="Times New Roman"/>
                      </a:endParaRPr>
                    </a:p>
                    <a:p>
                      <a:pPr indent="0" lvl="0" marL="0" rtl="0" algn="l">
                        <a:spcBef>
                          <a:spcPts val="0"/>
                        </a:spcBef>
                        <a:spcAft>
                          <a:spcPts val="0"/>
                        </a:spcAft>
                        <a:buNone/>
                      </a:pPr>
                      <a:r>
                        <a:t/>
                      </a:r>
                      <a:endParaRPr sz="1000">
                        <a:latin typeface="Times New Roman"/>
                        <a:ea typeface="Times New Roman"/>
                        <a:cs typeface="Times New Roman"/>
                        <a:sym typeface="Times New Roman"/>
                      </a:endParaRPr>
                    </a:p>
                  </a:txBody>
                  <a:tcPr marT="91425" marB="91425" marR="91425" marL="91425"/>
                </a:tc>
                <a:tc>
                  <a:txBody>
                    <a:bodyPr/>
                    <a:lstStyle/>
                    <a:p>
                      <a:pPr indent="0" lvl="0" marL="0" rtl="0" algn="l">
                        <a:lnSpc>
                          <a:spcPct val="115000"/>
                        </a:lnSpc>
                        <a:spcBef>
                          <a:spcPts val="0"/>
                        </a:spcBef>
                        <a:spcAft>
                          <a:spcPts val="0"/>
                        </a:spcAft>
                        <a:buNone/>
                      </a:pPr>
                      <a:r>
                        <a:rPr lang="en" sz="1000">
                          <a:solidFill>
                            <a:srgbClr val="212121"/>
                          </a:solidFill>
                          <a:highlight>
                            <a:schemeClr val="lt1"/>
                          </a:highlight>
                          <a:latin typeface="Times New Roman"/>
                          <a:ea typeface="Times New Roman"/>
                          <a:cs typeface="Times New Roman"/>
                          <a:sym typeface="Times New Roman"/>
                        </a:rPr>
                        <a:t>IEEE Transactions on Aerospace and Electronic Systems</a:t>
                      </a:r>
                      <a:endParaRPr sz="1000">
                        <a:solidFill>
                          <a:srgbClr val="212121"/>
                        </a:solidFill>
                        <a:latin typeface="Times New Roman"/>
                        <a:ea typeface="Times New Roman"/>
                        <a:cs typeface="Times New Roman"/>
                        <a:sym typeface="Times New Roman"/>
                      </a:endParaRPr>
                    </a:p>
                    <a:p>
                      <a:pPr indent="0" lvl="0" marL="0" rtl="0" algn="l">
                        <a:spcBef>
                          <a:spcPts val="0"/>
                        </a:spcBef>
                        <a:spcAft>
                          <a:spcPts val="0"/>
                        </a:spcAft>
                        <a:buNone/>
                      </a:pPr>
                      <a:r>
                        <a:t/>
                      </a:r>
                      <a:endParaRPr sz="1000">
                        <a:latin typeface="Times New Roman"/>
                        <a:ea typeface="Times New Roman"/>
                        <a:cs typeface="Times New Roman"/>
                        <a:sym typeface="Times New Roman"/>
                      </a:endParaRPr>
                    </a:p>
                  </a:txBody>
                  <a:tcPr marT="91425" marB="91425" marR="91425" marL="91425"/>
                </a:tc>
                <a:tc>
                  <a:txBody>
                    <a:bodyPr/>
                    <a:lstStyle/>
                    <a:p>
                      <a:pPr indent="0" lvl="0" marL="0" rtl="0" algn="just">
                        <a:lnSpc>
                          <a:spcPct val="130000"/>
                        </a:lnSpc>
                        <a:spcBef>
                          <a:spcPts val="0"/>
                        </a:spcBef>
                        <a:spcAft>
                          <a:spcPts val="0"/>
                        </a:spcAft>
                        <a:buNone/>
                      </a:pPr>
                      <a:r>
                        <a:rPr lang="en" sz="1000">
                          <a:solidFill>
                            <a:srgbClr val="212121"/>
                          </a:solidFill>
                          <a:latin typeface="Times New Roman"/>
                          <a:ea typeface="Times New Roman"/>
                          <a:cs typeface="Times New Roman"/>
                          <a:sym typeface="Times New Roman"/>
                        </a:rPr>
                        <a:t>Aircraft Engine Reliability Analysis using Machine Learning Algorithms.</a:t>
                      </a:r>
                      <a:endParaRPr sz="1000">
                        <a:solidFill>
                          <a:srgbClr val="212121"/>
                        </a:solidFill>
                        <a:latin typeface="Times New Roman"/>
                        <a:ea typeface="Times New Roman"/>
                        <a:cs typeface="Times New Roman"/>
                        <a:sym typeface="Times New Roman"/>
                      </a:endParaRPr>
                    </a:p>
                    <a:p>
                      <a:pPr indent="0" lvl="0" marL="0" rtl="0" algn="just">
                        <a:lnSpc>
                          <a:spcPct val="130000"/>
                        </a:lnSpc>
                        <a:spcBef>
                          <a:spcPts val="0"/>
                        </a:spcBef>
                        <a:spcAft>
                          <a:spcPts val="0"/>
                        </a:spcAft>
                        <a:buNone/>
                      </a:pPr>
                      <a:r>
                        <a:t/>
                      </a:r>
                      <a:endParaRPr sz="1000">
                        <a:solidFill>
                          <a:srgbClr val="212121"/>
                        </a:solidFill>
                        <a:highlight>
                          <a:schemeClr val="lt1"/>
                        </a:highlight>
                        <a:latin typeface="Times New Roman"/>
                        <a:ea typeface="Times New Roman"/>
                        <a:cs typeface="Times New Roman"/>
                        <a:sym typeface="Times New Roman"/>
                      </a:endParaRPr>
                    </a:p>
                    <a:p>
                      <a:pPr indent="0" lvl="0" marL="0" rtl="0" algn="l">
                        <a:spcBef>
                          <a:spcPts val="0"/>
                        </a:spcBef>
                        <a:spcAft>
                          <a:spcPts val="0"/>
                        </a:spcAft>
                        <a:buNone/>
                      </a:pPr>
                      <a:r>
                        <a:t/>
                      </a:r>
                      <a:endParaRPr sz="1000">
                        <a:latin typeface="Times New Roman"/>
                        <a:ea typeface="Times New Roman"/>
                        <a:cs typeface="Times New Roman"/>
                        <a:sym typeface="Times New Roman"/>
                      </a:endParaRPr>
                    </a:p>
                  </a:txBody>
                  <a:tcPr marT="91425" marB="91425" marR="91425" marL="91425"/>
                </a:tc>
                <a:tc>
                  <a:txBody>
                    <a:bodyPr/>
                    <a:lstStyle/>
                    <a:p>
                      <a:pPr indent="0" lvl="0" marL="0" rtl="0" algn="just">
                        <a:spcBef>
                          <a:spcPts val="0"/>
                        </a:spcBef>
                        <a:spcAft>
                          <a:spcPts val="0"/>
                        </a:spcAft>
                        <a:buNone/>
                      </a:pPr>
                      <a:r>
                        <a:rPr lang="en" sz="1000">
                          <a:solidFill>
                            <a:srgbClr val="212121"/>
                          </a:solidFill>
                          <a:latin typeface="Times New Roman"/>
                          <a:ea typeface="Times New Roman"/>
                          <a:cs typeface="Times New Roman"/>
                          <a:sym typeface="Times New Roman"/>
                        </a:rPr>
                        <a:t>Paper presents ten different machine learning algorithms for predicting the RUL of an engine.</a:t>
                      </a:r>
                      <a:endParaRPr sz="1000">
                        <a:latin typeface="Times New Roman"/>
                        <a:ea typeface="Times New Roman"/>
                        <a:cs typeface="Times New Roman"/>
                        <a:sym typeface="Times New Roman"/>
                      </a:endParaRPr>
                    </a:p>
                  </a:txBody>
                  <a:tcPr marT="91425" marB="91425" marR="91425" marL="91425"/>
                </a:tc>
                <a:tc>
                  <a:txBody>
                    <a:bodyPr/>
                    <a:lstStyle/>
                    <a:p>
                      <a:pPr indent="0" lvl="0" marL="0" rtl="0" algn="just">
                        <a:spcBef>
                          <a:spcPts val="0"/>
                        </a:spcBef>
                        <a:spcAft>
                          <a:spcPts val="0"/>
                        </a:spcAft>
                        <a:buNone/>
                      </a:pPr>
                      <a:r>
                        <a:rPr lang="en" sz="1000">
                          <a:solidFill>
                            <a:srgbClr val="212121"/>
                          </a:solidFill>
                          <a:latin typeface="Times New Roman"/>
                          <a:ea typeface="Times New Roman"/>
                          <a:cs typeface="Times New Roman"/>
                          <a:sym typeface="Times New Roman"/>
                        </a:rPr>
                        <a:t>Deep learning models can be used for better prediction accuracy.</a:t>
                      </a:r>
                      <a:endParaRPr sz="1000">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9"/>
          <p:cNvSpPr txBox="1"/>
          <p:nvPr>
            <p:ph type="title"/>
          </p:nvPr>
        </p:nvSpPr>
        <p:spPr>
          <a:xfrm>
            <a:off x="311700" y="445025"/>
            <a:ext cx="3578100" cy="3916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600"/>
              <a:buNone/>
            </a:pPr>
            <a:r>
              <a:t/>
            </a:r>
            <a:endParaRPr b="0" sz="3200">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3600"/>
              <a:buNone/>
            </a:pPr>
            <a:r>
              <a:t/>
            </a:r>
            <a:endParaRPr b="0" sz="3200">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3600"/>
              <a:buNone/>
            </a:pPr>
            <a:r>
              <a:rPr lang="en" sz="2600">
                <a:solidFill>
                  <a:srgbClr val="000000"/>
                </a:solidFill>
                <a:latin typeface="Times New Roman"/>
                <a:ea typeface="Times New Roman"/>
                <a:cs typeface="Times New Roman"/>
                <a:sym typeface="Times New Roman"/>
              </a:rPr>
              <a:t>SYSTEM</a:t>
            </a:r>
            <a:endParaRPr sz="2600">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3600"/>
              <a:buNone/>
            </a:pPr>
            <a:r>
              <a:rPr lang="en" sz="2600">
                <a:solidFill>
                  <a:srgbClr val="000000"/>
                </a:solidFill>
                <a:latin typeface="Times New Roman"/>
                <a:ea typeface="Times New Roman"/>
                <a:cs typeface="Times New Roman"/>
                <a:sym typeface="Times New Roman"/>
              </a:rPr>
              <a:t>REQUIREMENTS</a:t>
            </a:r>
            <a:endParaRPr sz="2600">
              <a:solidFill>
                <a:srgbClr val="000000"/>
              </a:solidFill>
              <a:latin typeface="Times New Roman"/>
              <a:ea typeface="Times New Roman"/>
              <a:cs typeface="Times New Roman"/>
              <a:sym typeface="Times New Roman"/>
            </a:endParaRPr>
          </a:p>
        </p:txBody>
      </p:sp>
      <p:sp>
        <p:nvSpPr>
          <p:cNvPr id="102" name="Google Shape;102;p9"/>
          <p:cNvSpPr txBox="1"/>
          <p:nvPr>
            <p:ph idx="1" type="body"/>
          </p:nvPr>
        </p:nvSpPr>
        <p:spPr>
          <a:xfrm>
            <a:off x="4018350" y="502300"/>
            <a:ext cx="4814100" cy="3858900"/>
          </a:xfrm>
          <a:prstGeom prst="rect">
            <a:avLst/>
          </a:prstGeom>
          <a:noFill/>
          <a:ln>
            <a:noFill/>
          </a:ln>
        </p:spPr>
        <p:txBody>
          <a:bodyPr anchorCtr="0" anchor="t" bIns="91425" lIns="91425" spcFirstLastPara="1" rIns="91425" wrap="square" tIns="91425">
            <a:normAutofit/>
          </a:bodyPr>
          <a:lstStyle/>
          <a:p>
            <a:pPr indent="0" lvl="0" marL="0" rtl="0" algn="l">
              <a:lnSpc>
                <a:spcPct val="80000"/>
              </a:lnSpc>
              <a:spcBef>
                <a:spcPts val="0"/>
              </a:spcBef>
              <a:spcAft>
                <a:spcPts val="0"/>
              </a:spcAft>
              <a:buSzPts val="1800"/>
              <a:buNone/>
            </a:pPr>
            <a:r>
              <a:rPr b="1" lang="en" sz="1900">
                <a:solidFill>
                  <a:srgbClr val="000000"/>
                </a:solidFill>
                <a:latin typeface="Times New Roman"/>
                <a:ea typeface="Times New Roman"/>
                <a:cs typeface="Times New Roman"/>
                <a:sym typeface="Times New Roman"/>
              </a:rPr>
              <a:t>SOFTWARE REQUIREMENTS:</a:t>
            </a:r>
            <a:endParaRPr b="1" sz="1900">
              <a:solidFill>
                <a:srgbClr val="000000"/>
              </a:solidFill>
              <a:latin typeface="Times New Roman"/>
              <a:ea typeface="Times New Roman"/>
              <a:cs typeface="Times New Roman"/>
              <a:sym typeface="Times New Roman"/>
            </a:endParaRPr>
          </a:p>
          <a:p>
            <a:pPr indent="0" lvl="0" marL="0" rtl="0" algn="l">
              <a:lnSpc>
                <a:spcPct val="40000"/>
              </a:lnSpc>
              <a:spcBef>
                <a:spcPts val="1600"/>
              </a:spcBef>
              <a:spcAft>
                <a:spcPts val="0"/>
              </a:spcAft>
              <a:buSzPts val="1800"/>
              <a:buNone/>
            </a:pPr>
            <a:r>
              <a:rPr lang="en" sz="1900">
                <a:solidFill>
                  <a:srgbClr val="000000"/>
                </a:solidFill>
                <a:latin typeface="Times New Roman"/>
                <a:ea typeface="Times New Roman"/>
                <a:cs typeface="Times New Roman"/>
                <a:sym typeface="Times New Roman"/>
              </a:rPr>
              <a:t>Operating systems: Windows 10.</a:t>
            </a:r>
            <a:endParaRPr sz="1900">
              <a:solidFill>
                <a:srgbClr val="000000"/>
              </a:solidFill>
              <a:latin typeface="Times New Roman"/>
              <a:ea typeface="Times New Roman"/>
              <a:cs typeface="Times New Roman"/>
              <a:sym typeface="Times New Roman"/>
            </a:endParaRPr>
          </a:p>
          <a:p>
            <a:pPr indent="0" lvl="0" marL="0" rtl="0" algn="l">
              <a:lnSpc>
                <a:spcPct val="40000"/>
              </a:lnSpc>
              <a:spcBef>
                <a:spcPts val="1600"/>
              </a:spcBef>
              <a:spcAft>
                <a:spcPts val="0"/>
              </a:spcAft>
              <a:buSzPts val="1800"/>
              <a:buNone/>
            </a:pPr>
            <a:r>
              <a:rPr lang="en" sz="1900">
                <a:solidFill>
                  <a:srgbClr val="000000"/>
                </a:solidFill>
                <a:latin typeface="Times New Roman"/>
                <a:ea typeface="Times New Roman"/>
                <a:cs typeface="Times New Roman"/>
                <a:sym typeface="Times New Roman"/>
              </a:rPr>
              <a:t>Python version 3.9.4</a:t>
            </a:r>
            <a:endParaRPr sz="1900">
              <a:solidFill>
                <a:srgbClr val="000000"/>
              </a:solidFill>
              <a:latin typeface="Times New Roman"/>
              <a:ea typeface="Times New Roman"/>
              <a:cs typeface="Times New Roman"/>
              <a:sym typeface="Times New Roman"/>
            </a:endParaRPr>
          </a:p>
          <a:p>
            <a:pPr indent="0" lvl="0" marL="0" rtl="0" algn="l">
              <a:lnSpc>
                <a:spcPct val="40000"/>
              </a:lnSpc>
              <a:spcBef>
                <a:spcPts val="1600"/>
              </a:spcBef>
              <a:spcAft>
                <a:spcPts val="0"/>
              </a:spcAft>
              <a:buSzPts val="1800"/>
              <a:buNone/>
            </a:pPr>
            <a:r>
              <a:rPr lang="en" sz="1900">
                <a:solidFill>
                  <a:srgbClr val="000000"/>
                </a:solidFill>
                <a:latin typeface="Times New Roman"/>
                <a:ea typeface="Times New Roman"/>
                <a:cs typeface="Times New Roman"/>
                <a:sym typeface="Times New Roman"/>
              </a:rPr>
              <a:t>Google Colab</a:t>
            </a:r>
            <a:endParaRPr sz="1900">
              <a:solidFill>
                <a:srgbClr val="000000"/>
              </a:solidFill>
              <a:latin typeface="Times New Roman"/>
              <a:ea typeface="Times New Roman"/>
              <a:cs typeface="Times New Roman"/>
              <a:sym typeface="Times New Roman"/>
            </a:endParaRPr>
          </a:p>
          <a:p>
            <a:pPr indent="0" lvl="0" marL="0" rtl="0" algn="l">
              <a:lnSpc>
                <a:spcPct val="40000"/>
              </a:lnSpc>
              <a:spcBef>
                <a:spcPts val="1600"/>
              </a:spcBef>
              <a:spcAft>
                <a:spcPts val="0"/>
              </a:spcAft>
              <a:buSzPts val="1800"/>
              <a:buNone/>
            </a:pPr>
            <a:r>
              <a:t/>
            </a:r>
            <a:endParaRPr sz="1900">
              <a:solidFill>
                <a:srgbClr val="000000"/>
              </a:solidFill>
              <a:latin typeface="Times New Roman"/>
              <a:ea typeface="Times New Roman"/>
              <a:cs typeface="Times New Roman"/>
              <a:sym typeface="Times New Roman"/>
            </a:endParaRPr>
          </a:p>
          <a:p>
            <a:pPr indent="0" lvl="0" marL="0" rtl="0" algn="l">
              <a:lnSpc>
                <a:spcPct val="80000"/>
              </a:lnSpc>
              <a:spcBef>
                <a:spcPts val="1600"/>
              </a:spcBef>
              <a:spcAft>
                <a:spcPts val="0"/>
              </a:spcAft>
              <a:buSzPts val="1800"/>
              <a:buNone/>
            </a:pPr>
            <a:r>
              <a:rPr b="1" lang="en" sz="1900">
                <a:solidFill>
                  <a:srgbClr val="000000"/>
                </a:solidFill>
                <a:latin typeface="Times New Roman"/>
                <a:ea typeface="Times New Roman"/>
                <a:cs typeface="Times New Roman"/>
                <a:sym typeface="Times New Roman"/>
              </a:rPr>
              <a:t>HARDWARE REQUIREMENTS:</a:t>
            </a:r>
            <a:endParaRPr b="1" sz="1900">
              <a:solidFill>
                <a:srgbClr val="000000"/>
              </a:solidFill>
              <a:latin typeface="Times New Roman"/>
              <a:ea typeface="Times New Roman"/>
              <a:cs typeface="Times New Roman"/>
              <a:sym typeface="Times New Roman"/>
            </a:endParaRPr>
          </a:p>
          <a:p>
            <a:pPr indent="0" lvl="0" marL="0" rtl="0" algn="l">
              <a:lnSpc>
                <a:spcPct val="40000"/>
              </a:lnSpc>
              <a:spcBef>
                <a:spcPts val="1600"/>
              </a:spcBef>
              <a:spcAft>
                <a:spcPts val="0"/>
              </a:spcAft>
              <a:buSzPts val="1800"/>
              <a:buNone/>
            </a:pPr>
            <a:r>
              <a:rPr lang="en" sz="1900">
                <a:solidFill>
                  <a:srgbClr val="000000"/>
                </a:solidFill>
                <a:latin typeface="Times New Roman"/>
                <a:ea typeface="Times New Roman"/>
                <a:cs typeface="Times New Roman"/>
                <a:sym typeface="Times New Roman"/>
              </a:rPr>
              <a:t>Input device (mouse / trackpad)</a:t>
            </a:r>
            <a:endParaRPr sz="1900">
              <a:solidFill>
                <a:srgbClr val="000000"/>
              </a:solidFill>
              <a:latin typeface="Times New Roman"/>
              <a:ea typeface="Times New Roman"/>
              <a:cs typeface="Times New Roman"/>
              <a:sym typeface="Times New Roman"/>
            </a:endParaRPr>
          </a:p>
          <a:p>
            <a:pPr indent="0" lvl="0" marL="0" rtl="0" algn="l">
              <a:lnSpc>
                <a:spcPct val="40000"/>
              </a:lnSpc>
              <a:spcBef>
                <a:spcPts val="1600"/>
              </a:spcBef>
              <a:spcAft>
                <a:spcPts val="0"/>
              </a:spcAft>
              <a:buSzPts val="1800"/>
              <a:buNone/>
            </a:pPr>
            <a:r>
              <a:rPr lang="en" sz="1900">
                <a:solidFill>
                  <a:srgbClr val="000000"/>
                </a:solidFill>
                <a:latin typeface="Times New Roman"/>
                <a:ea typeface="Times New Roman"/>
                <a:cs typeface="Times New Roman"/>
                <a:sym typeface="Times New Roman"/>
              </a:rPr>
              <a:t>64 bit processor</a:t>
            </a:r>
            <a:endParaRPr sz="1900">
              <a:solidFill>
                <a:srgbClr val="000000"/>
              </a:solidFill>
              <a:latin typeface="Times New Roman"/>
              <a:ea typeface="Times New Roman"/>
              <a:cs typeface="Times New Roman"/>
              <a:sym typeface="Times New Roman"/>
            </a:endParaRPr>
          </a:p>
          <a:p>
            <a:pPr indent="0" lvl="0" marL="0" rtl="0" algn="l">
              <a:lnSpc>
                <a:spcPct val="40000"/>
              </a:lnSpc>
              <a:spcBef>
                <a:spcPts val="1600"/>
              </a:spcBef>
              <a:spcAft>
                <a:spcPts val="0"/>
              </a:spcAft>
              <a:buSzPts val="1800"/>
              <a:buNone/>
            </a:pPr>
            <a:r>
              <a:rPr lang="en" sz="1900">
                <a:solidFill>
                  <a:srgbClr val="000000"/>
                </a:solidFill>
                <a:latin typeface="Times New Roman"/>
                <a:ea typeface="Times New Roman"/>
                <a:cs typeface="Times New Roman"/>
                <a:sym typeface="Times New Roman"/>
              </a:rPr>
              <a:t>Sufficient RAM to run the program</a:t>
            </a:r>
            <a:endParaRPr sz="1900">
              <a:solidFill>
                <a:srgbClr val="000000"/>
              </a:solidFill>
              <a:latin typeface="Times New Roman"/>
              <a:ea typeface="Times New Roman"/>
              <a:cs typeface="Times New Roman"/>
              <a:sym typeface="Times New Roman"/>
            </a:endParaRPr>
          </a:p>
          <a:p>
            <a:pPr indent="0" lvl="0" marL="0" rtl="0" algn="l">
              <a:lnSpc>
                <a:spcPct val="95000"/>
              </a:lnSpc>
              <a:spcBef>
                <a:spcPts val="1600"/>
              </a:spcBef>
              <a:spcAft>
                <a:spcPts val="1200"/>
              </a:spcAft>
              <a:buSzPts val="18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0"/>
          <p:cNvSpPr txBox="1"/>
          <p:nvPr>
            <p:ph type="title"/>
          </p:nvPr>
        </p:nvSpPr>
        <p:spPr>
          <a:xfrm>
            <a:off x="311700" y="314675"/>
            <a:ext cx="8520600" cy="707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990"/>
              <a:buFont typeface="Arial"/>
              <a:buNone/>
            </a:pPr>
            <a:r>
              <a:rPr lang="en" sz="2600">
                <a:solidFill>
                  <a:srgbClr val="000000"/>
                </a:solidFill>
                <a:latin typeface="Times New Roman"/>
                <a:ea typeface="Times New Roman"/>
                <a:cs typeface="Times New Roman"/>
                <a:sym typeface="Times New Roman"/>
              </a:rPr>
              <a:t>METHODOLOGY</a:t>
            </a:r>
            <a:endParaRPr sz="2600">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990"/>
              <a:buNone/>
            </a:pPr>
            <a:r>
              <a:t/>
            </a:r>
            <a:endParaRPr sz="3240"/>
          </a:p>
        </p:txBody>
      </p:sp>
      <p:sp>
        <p:nvSpPr>
          <p:cNvPr id="108" name="Google Shape;108;p10"/>
          <p:cNvSpPr txBox="1"/>
          <p:nvPr>
            <p:ph idx="1" type="body"/>
          </p:nvPr>
        </p:nvSpPr>
        <p:spPr>
          <a:xfrm>
            <a:off x="271575" y="1022075"/>
            <a:ext cx="8520600" cy="3830700"/>
          </a:xfrm>
          <a:prstGeom prst="rect">
            <a:avLst/>
          </a:prstGeom>
          <a:noFill/>
          <a:ln>
            <a:noFill/>
          </a:ln>
        </p:spPr>
        <p:txBody>
          <a:bodyPr anchorCtr="0" anchor="t" bIns="91425" lIns="91425" spcFirstLastPara="1" rIns="91425" wrap="square" tIns="91425">
            <a:noAutofit/>
          </a:bodyPr>
          <a:lstStyle/>
          <a:p>
            <a:pPr indent="-349250" lvl="0" marL="457200" rtl="0" algn="just">
              <a:lnSpc>
                <a:spcPct val="150000"/>
              </a:lnSpc>
              <a:spcBef>
                <a:spcPts val="0"/>
              </a:spcBef>
              <a:spcAft>
                <a:spcPts val="0"/>
              </a:spcAft>
              <a:buClr>
                <a:srgbClr val="000000"/>
              </a:buClr>
              <a:buSzPts val="1900"/>
              <a:buFont typeface="Times New Roman"/>
              <a:buChar char="●"/>
            </a:pPr>
            <a:r>
              <a:rPr lang="en" sz="1900">
                <a:solidFill>
                  <a:srgbClr val="24292F"/>
                </a:solidFill>
                <a:highlight>
                  <a:srgbClr val="FFFFFF"/>
                </a:highlight>
                <a:latin typeface="Times New Roman"/>
                <a:ea typeface="Times New Roman"/>
                <a:cs typeface="Times New Roman"/>
                <a:sym typeface="Times New Roman"/>
              </a:rPr>
              <a:t>The project objective is to enhance the maintenance operations by applying data science techniques and machine learning algorithms for predicting more accurate maintenance requirements.</a:t>
            </a:r>
            <a:endParaRPr sz="1900">
              <a:solidFill>
                <a:srgbClr val="24292F"/>
              </a:solidFill>
              <a:highlight>
                <a:srgbClr val="FFFFFF"/>
              </a:highlight>
              <a:latin typeface="Times New Roman"/>
              <a:ea typeface="Times New Roman"/>
              <a:cs typeface="Times New Roman"/>
              <a:sym typeface="Times New Roman"/>
            </a:endParaRPr>
          </a:p>
          <a:p>
            <a:pPr indent="-349250" lvl="0" marL="457200" rtl="0" algn="just">
              <a:lnSpc>
                <a:spcPct val="150000"/>
              </a:lnSpc>
              <a:spcBef>
                <a:spcPts val="0"/>
              </a:spcBef>
              <a:spcAft>
                <a:spcPts val="0"/>
              </a:spcAft>
              <a:buClr>
                <a:srgbClr val="24292F"/>
              </a:buClr>
              <a:buSzPts val="1900"/>
              <a:buFont typeface="Times New Roman"/>
              <a:buChar char="●"/>
            </a:pPr>
            <a:r>
              <a:rPr lang="en" sz="1900">
                <a:solidFill>
                  <a:srgbClr val="24292F"/>
                </a:solidFill>
                <a:highlight>
                  <a:srgbClr val="FFFFFF"/>
                </a:highlight>
                <a:latin typeface="Times New Roman"/>
                <a:ea typeface="Times New Roman"/>
                <a:cs typeface="Times New Roman"/>
                <a:sym typeface="Times New Roman"/>
              </a:rPr>
              <a:t>By considering the aircraft engine’s sensor values over time, the machine learning algorithm can learn the relationship between the sensor values and changes in sensor values to the historical failures in order to predict failures in the future.</a:t>
            </a:r>
            <a:endParaRPr sz="1900">
              <a:solidFill>
                <a:srgbClr val="24292F"/>
              </a:solidFill>
              <a:highlight>
                <a:srgbClr val="FFFFFF"/>
              </a:highlight>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t/>
            </a:r>
            <a:endParaRPr>
              <a:solidFill>
                <a:srgbClr val="24292F"/>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g114b31f6f76_0_11"/>
          <p:cNvSpPr txBox="1"/>
          <p:nvPr>
            <p:ph idx="1" type="body"/>
          </p:nvPr>
        </p:nvSpPr>
        <p:spPr>
          <a:xfrm>
            <a:off x="311700" y="503625"/>
            <a:ext cx="2817300" cy="40653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t/>
            </a:r>
            <a:endParaRPr sz="2600">
              <a:solidFill>
                <a:srgbClr val="000000"/>
              </a:solidFill>
              <a:latin typeface="Times New Roman"/>
              <a:ea typeface="Times New Roman"/>
              <a:cs typeface="Times New Roman"/>
              <a:sym typeface="Times New Roman"/>
            </a:endParaRPr>
          </a:p>
          <a:p>
            <a:pPr indent="0" lvl="0" marL="0" rtl="0" algn="just">
              <a:spcBef>
                <a:spcPts val="0"/>
              </a:spcBef>
              <a:spcAft>
                <a:spcPts val="0"/>
              </a:spcAft>
              <a:buNone/>
            </a:pPr>
            <a:r>
              <a:t/>
            </a:r>
            <a:endParaRPr sz="2600">
              <a:solidFill>
                <a:srgbClr val="000000"/>
              </a:solidFill>
              <a:latin typeface="Times New Roman"/>
              <a:ea typeface="Times New Roman"/>
              <a:cs typeface="Times New Roman"/>
              <a:sym typeface="Times New Roman"/>
            </a:endParaRPr>
          </a:p>
          <a:p>
            <a:pPr indent="0" lvl="0" marL="0" rtl="0" algn="just">
              <a:spcBef>
                <a:spcPts val="0"/>
              </a:spcBef>
              <a:spcAft>
                <a:spcPts val="0"/>
              </a:spcAft>
              <a:buNone/>
            </a:pPr>
            <a:r>
              <a:t/>
            </a:r>
            <a:endParaRPr sz="2600">
              <a:solidFill>
                <a:srgbClr val="000000"/>
              </a:solidFill>
              <a:latin typeface="Times New Roman"/>
              <a:ea typeface="Times New Roman"/>
              <a:cs typeface="Times New Roman"/>
              <a:sym typeface="Times New Roman"/>
            </a:endParaRPr>
          </a:p>
          <a:p>
            <a:pPr indent="0" lvl="0" marL="0" rtl="0" algn="ctr">
              <a:lnSpc>
                <a:spcPct val="115000"/>
              </a:lnSpc>
              <a:spcBef>
                <a:spcPts val="0"/>
              </a:spcBef>
              <a:spcAft>
                <a:spcPts val="0"/>
              </a:spcAft>
              <a:buNone/>
            </a:pPr>
            <a:r>
              <a:rPr b="1" lang="en" sz="2600">
                <a:solidFill>
                  <a:srgbClr val="000000"/>
                </a:solidFill>
                <a:latin typeface="Times New Roman"/>
                <a:ea typeface="Times New Roman"/>
                <a:cs typeface="Times New Roman"/>
                <a:sym typeface="Times New Roman"/>
              </a:rPr>
              <a:t>SYSTEM</a:t>
            </a:r>
            <a:endParaRPr b="1" sz="2600">
              <a:solidFill>
                <a:srgbClr val="000000"/>
              </a:solidFill>
              <a:latin typeface="Times New Roman"/>
              <a:ea typeface="Times New Roman"/>
              <a:cs typeface="Times New Roman"/>
              <a:sym typeface="Times New Roman"/>
            </a:endParaRPr>
          </a:p>
          <a:p>
            <a:pPr indent="0" lvl="0" marL="0" rtl="0" algn="ctr">
              <a:lnSpc>
                <a:spcPct val="115000"/>
              </a:lnSpc>
              <a:spcBef>
                <a:spcPts val="0"/>
              </a:spcBef>
              <a:spcAft>
                <a:spcPts val="0"/>
              </a:spcAft>
              <a:buNone/>
            </a:pPr>
            <a:r>
              <a:rPr b="1" lang="en" sz="2600">
                <a:solidFill>
                  <a:srgbClr val="000000"/>
                </a:solidFill>
                <a:latin typeface="Times New Roman"/>
                <a:ea typeface="Times New Roman"/>
                <a:cs typeface="Times New Roman"/>
                <a:sym typeface="Times New Roman"/>
              </a:rPr>
              <a:t>DESIGN</a:t>
            </a:r>
            <a:endParaRPr b="1" sz="2600">
              <a:solidFill>
                <a:srgbClr val="000000"/>
              </a:solidFill>
              <a:latin typeface="Times New Roman"/>
              <a:ea typeface="Times New Roman"/>
              <a:cs typeface="Times New Roman"/>
              <a:sym typeface="Times New Roman"/>
            </a:endParaRPr>
          </a:p>
        </p:txBody>
      </p:sp>
      <p:pic>
        <p:nvPicPr>
          <p:cNvPr id="114" name="Google Shape;114;g114b31f6f76_0_11"/>
          <p:cNvPicPr preferRelativeResize="0"/>
          <p:nvPr/>
        </p:nvPicPr>
        <p:blipFill>
          <a:blip r:embed="rId3">
            <a:alphaModFix/>
          </a:blip>
          <a:stretch>
            <a:fillRect/>
          </a:stretch>
        </p:blipFill>
        <p:spPr>
          <a:xfrm>
            <a:off x="4063900" y="210650"/>
            <a:ext cx="4027950" cy="49328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g1163535762c_0_0"/>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640">
                <a:solidFill>
                  <a:srgbClr val="292929"/>
                </a:solidFill>
                <a:latin typeface="Times New Roman"/>
                <a:ea typeface="Times New Roman"/>
                <a:cs typeface="Times New Roman"/>
                <a:sym typeface="Times New Roman"/>
              </a:rPr>
              <a:t>DATA SET</a:t>
            </a:r>
            <a:endParaRPr sz="2640">
              <a:solidFill>
                <a:srgbClr val="292929"/>
              </a:solidFill>
              <a:latin typeface="Times New Roman"/>
              <a:ea typeface="Times New Roman"/>
              <a:cs typeface="Times New Roman"/>
              <a:sym typeface="Times New Roman"/>
            </a:endParaRPr>
          </a:p>
        </p:txBody>
      </p:sp>
      <p:sp>
        <p:nvSpPr>
          <p:cNvPr id="120" name="Google Shape;120;g1163535762c_0_0"/>
          <p:cNvSpPr txBox="1"/>
          <p:nvPr>
            <p:ph idx="1" type="body"/>
          </p:nvPr>
        </p:nvSpPr>
        <p:spPr>
          <a:xfrm>
            <a:off x="311700" y="1100875"/>
            <a:ext cx="8520600" cy="3705900"/>
          </a:xfrm>
          <a:prstGeom prst="rect">
            <a:avLst/>
          </a:prstGeom>
        </p:spPr>
        <p:txBody>
          <a:bodyPr anchorCtr="0" anchor="t" bIns="91425" lIns="91425" spcFirstLastPara="1" rIns="91425" wrap="square" tIns="91425">
            <a:noAutofit/>
          </a:bodyPr>
          <a:lstStyle/>
          <a:p>
            <a:pPr indent="-342900" lvl="0" marL="457200" rtl="0" algn="just">
              <a:lnSpc>
                <a:spcPct val="150000"/>
              </a:lnSpc>
              <a:spcBef>
                <a:spcPts val="0"/>
              </a:spcBef>
              <a:spcAft>
                <a:spcPts val="0"/>
              </a:spcAft>
              <a:buClr>
                <a:srgbClr val="24292F"/>
              </a:buClr>
              <a:buSzPts val="1800"/>
              <a:buFont typeface="Times New Roman"/>
              <a:buChar char="●"/>
            </a:pPr>
            <a:r>
              <a:rPr lang="en">
                <a:solidFill>
                  <a:srgbClr val="24292F"/>
                </a:solidFill>
                <a:highlight>
                  <a:schemeClr val="lt1"/>
                </a:highlight>
                <a:latin typeface="Times New Roman"/>
                <a:ea typeface="Times New Roman"/>
                <a:cs typeface="Times New Roman"/>
                <a:sym typeface="Times New Roman"/>
              </a:rPr>
              <a:t>The dataset for this project contains training data,test data and truth data which is taken from Kaggle (https://www.kaggle.com/maternusherold/pred-maintanance-data)</a:t>
            </a:r>
            <a:endParaRPr>
              <a:solidFill>
                <a:srgbClr val="24292F"/>
              </a:solidFill>
              <a:highlight>
                <a:schemeClr val="lt1"/>
              </a:highlight>
              <a:latin typeface="Times New Roman"/>
              <a:ea typeface="Times New Roman"/>
              <a:cs typeface="Times New Roman"/>
              <a:sym typeface="Times New Roman"/>
            </a:endParaRPr>
          </a:p>
          <a:p>
            <a:pPr indent="-342900" lvl="0" marL="457200" rtl="0" algn="just">
              <a:lnSpc>
                <a:spcPct val="150000"/>
              </a:lnSpc>
              <a:spcBef>
                <a:spcPts val="0"/>
              </a:spcBef>
              <a:spcAft>
                <a:spcPts val="0"/>
              </a:spcAft>
              <a:buClr>
                <a:srgbClr val="24292F"/>
              </a:buClr>
              <a:buSzPts val="1800"/>
              <a:buFont typeface="Times New Roman"/>
              <a:buChar char="●"/>
            </a:pPr>
            <a:r>
              <a:rPr lang="en">
                <a:solidFill>
                  <a:srgbClr val="24292F"/>
                </a:solidFill>
                <a:highlight>
                  <a:schemeClr val="lt1"/>
                </a:highlight>
                <a:latin typeface="Times New Roman"/>
                <a:ea typeface="Times New Roman"/>
                <a:cs typeface="Times New Roman"/>
                <a:sym typeface="Times New Roman"/>
              </a:rPr>
              <a:t>Following are the</a:t>
            </a:r>
            <a:r>
              <a:rPr lang="en">
                <a:solidFill>
                  <a:srgbClr val="24292F"/>
                </a:solidFill>
                <a:highlight>
                  <a:schemeClr val="lt1"/>
                </a:highlight>
                <a:latin typeface="Times New Roman"/>
                <a:ea typeface="Times New Roman"/>
                <a:cs typeface="Times New Roman"/>
                <a:sym typeface="Times New Roman"/>
              </a:rPr>
              <a:t> parameters:</a:t>
            </a:r>
            <a:endParaRPr>
              <a:solidFill>
                <a:srgbClr val="24292F"/>
              </a:solidFill>
              <a:highlight>
                <a:schemeClr val="lt1"/>
              </a:highlight>
              <a:latin typeface="Times New Roman"/>
              <a:ea typeface="Times New Roman"/>
              <a:cs typeface="Times New Roman"/>
              <a:sym typeface="Times New Roman"/>
            </a:endParaRPr>
          </a:p>
          <a:p>
            <a:pPr indent="-342900" lvl="0" marL="457200" rtl="0" algn="just">
              <a:lnSpc>
                <a:spcPct val="150000"/>
              </a:lnSpc>
              <a:spcBef>
                <a:spcPts val="0"/>
              </a:spcBef>
              <a:spcAft>
                <a:spcPts val="0"/>
              </a:spcAft>
              <a:buClr>
                <a:srgbClr val="24292F"/>
              </a:buClr>
              <a:buSzPts val="1800"/>
              <a:buFont typeface="Times New Roman"/>
              <a:buAutoNum type="arabicPeriod"/>
            </a:pPr>
            <a:r>
              <a:rPr lang="en">
                <a:solidFill>
                  <a:srgbClr val="24292F"/>
                </a:solidFill>
                <a:highlight>
                  <a:schemeClr val="lt1"/>
                </a:highlight>
                <a:latin typeface="Times New Roman"/>
                <a:ea typeface="Times New Roman"/>
                <a:cs typeface="Times New Roman"/>
                <a:sym typeface="Times New Roman"/>
              </a:rPr>
              <a:t>id: is the engine ID, ranging from 1 to 100</a:t>
            </a:r>
            <a:endParaRPr>
              <a:solidFill>
                <a:srgbClr val="24292F"/>
              </a:solidFill>
              <a:highlight>
                <a:schemeClr val="lt1"/>
              </a:highlight>
              <a:latin typeface="Times New Roman"/>
              <a:ea typeface="Times New Roman"/>
              <a:cs typeface="Times New Roman"/>
              <a:sym typeface="Times New Roman"/>
            </a:endParaRPr>
          </a:p>
          <a:p>
            <a:pPr indent="-342900" lvl="0" marL="457200" rtl="0" algn="just">
              <a:lnSpc>
                <a:spcPct val="150000"/>
              </a:lnSpc>
              <a:spcBef>
                <a:spcPts val="0"/>
              </a:spcBef>
              <a:spcAft>
                <a:spcPts val="0"/>
              </a:spcAft>
              <a:buClr>
                <a:srgbClr val="24292F"/>
              </a:buClr>
              <a:buSzPts val="1800"/>
              <a:buFont typeface="Times New Roman"/>
              <a:buAutoNum type="arabicPeriod"/>
            </a:pPr>
            <a:r>
              <a:rPr lang="en">
                <a:solidFill>
                  <a:srgbClr val="24292F"/>
                </a:solidFill>
                <a:highlight>
                  <a:schemeClr val="lt1"/>
                </a:highlight>
                <a:latin typeface="Times New Roman"/>
                <a:ea typeface="Times New Roman"/>
                <a:cs typeface="Times New Roman"/>
                <a:sym typeface="Times New Roman"/>
              </a:rPr>
              <a:t>cycle: per engine sequence, starts from 1 to the cycle number where failure had happened.</a:t>
            </a:r>
            <a:endParaRPr>
              <a:solidFill>
                <a:srgbClr val="24292F"/>
              </a:solidFill>
              <a:highlight>
                <a:schemeClr val="lt1"/>
              </a:highlight>
              <a:latin typeface="Times New Roman"/>
              <a:ea typeface="Times New Roman"/>
              <a:cs typeface="Times New Roman"/>
              <a:sym typeface="Times New Roman"/>
            </a:endParaRPr>
          </a:p>
          <a:p>
            <a:pPr indent="-342900" lvl="0" marL="457200" rtl="0" algn="just">
              <a:lnSpc>
                <a:spcPct val="150000"/>
              </a:lnSpc>
              <a:spcBef>
                <a:spcPts val="0"/>
              </a:spcBef>
              <a:spcAft>
                <a:spcPts val="0"/>
              </a:spcAft>
              <a:buClr>
                <a:srgbClr val="24292F"/>
              </a:buClr>
              <a:buSzPts val="1800"/>
              <a:buFont typeface="Times New Roman"/>
              <a:buAutoNum type="arabicPeriod"/>
            </a:pPr>
            <a:r>
              <a:rPr lang="en">
                <a:solidFill>
                  <a:srgbClr val="24292F"/>
                </a:solidFill>
                <a:highlight>
                  <a:schemeClr val="lt1"/>
                </a:highlight>
                <a:latin typeface="Times New Roman"/>
                <a:ea typeface="Times New Roman"/>
                <a:cs typeface="Times New Roman"/>
                <a:sym typeface="Times New Roman"/>
              </a:rPr>
              <a:t>operational settings- setting 1 to setting 3</a:t>
            </a:r>
            <a:endParaRPr>
              <a:solidFill>
                <a:srgbClr val="24292F"/>
              </a:solidFill>
              <a:highlight>
                <a:schemeClr val="lt1"/>
              </a:highlight>
              <a:latin typeface="Times New Roman"/>
              <a:ea typeface="Times New Roman"/>
              <a:cs typeface="Times New Roman"/>
              <a:sym typeface="Times New Roman"/>
            </a:endParaRPr>
          </a:p>
          <a:p>
            <a:pPr indent="-342900" lvl="0" marL="457200" rtl="0" algn="just">
              <a:lnSpc>
                <a:spcPct val="150000"/>
              </a:lnSpc>
              <a:spcBef>
                <a:spcPts val="0"/>
              </a:spcBef>
              <a:spcAft>
                <a:spcPts val="0"/>
              </a:spcAft>
              <a:buClr>
                <a:srgbClr val="24292F"/>
              </a:buClr>
              <a:buSzPts val="1800"/>
              <a:buFont typeface="Times New Roman"/>
              <a:buAutoNum type="arabicPeriod"/>
            </a:pPr>
            <a:r>
              <a:rPr lang="en">
                <a:solidFill>
                  <a:srgbClr val="24292F"/>
                </a:solidFill>
                <a:highlight>
                  <a:schemeClr val="lt1"/>
                </a:highlight>
                <a:latin typeface="Times New Roman"/>
                <a:ea typeface="Times New Roman"/>
                <a:cs typeface="Times New Roman"/>
                <a:sym typeface="Times New Roman"/>
              </a:rPr>
              <a:t>sensors measurements-s1 to s21</a:t>
            </a:r>
            <a:endParaRPr>
              <a:solidFill>
                <a:srgbClr val="24292F"/>
              </a:solidFill>
              <a:highlight>
                <a:schemeClr val="lt1"/>
              </a:highlight>
              <a:latin typeface="Times New Roman"/>
              <a:ea typeface="Times New Roman"/>
              <a:cs typeface="Times New Roman"/>
              <a:sym typeface="Times New Roman"/>
            </a:endParaRPr>
          </a:p>
          <a:p>
            <a:pPr indent="0" lvl="0" marL="457200" rtl="0" algn="just">
              <a:lnSpc>
                <a:spcPct val="150000"/>
              </a:lnSpc>
              <a:spcBef>
                <a:spcPts val="0"/>
              </a:spcBef>
              <a:spcAft>
                <a:spcPts val="0"/>
              </a:spcAft>
              <a:buNone/>
            </a:pPr>
            <a:r>
              <a:rPr lang="en">
                <a:solidFill>
                  <a:srgbClr val="24292F"/>
                </a:solidFill>
                <a:highlight>
                  <a:schemeClr val="lt1"/>
                </a:highlight>
                <a:latin typeface="Times New Roman"/>
                <a:ea typeface="Times New Roman"/>
                <a:cs typeface="Times New Roman"/>
                <a:sym typeface="Times New Roman"/>
              </a:rPr>
              <a:t> </a:t>
            </a:r>
            <a:endParaRPr>
              <a:solidFill>
                <a:srgbClr val="24292F"/>
              </a:solidFill>
              <a:highlight>
                <a:schemeClr val="lt1"/>
              </a:highlight>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g1163535762c_1_1"/>
          <p:cNvSpPr txBox="1"/>
          <p:nvPr>
            <p:ph type="title"/>
          </p:nvPr>
        </p:nvSpPr>
        <p:spPr>
          <a:xfrm>
            <a:off x="311700" y="578050"/>
            <a:ext cx="8520600" cy="589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0" lang="en" sz="2440">
                <a:solidFill>
                  <a:srgbClr val="000000"/>
                </a:solidFill>
                <a:latin typeface="Times New Roman"/>
                <a:ea typeface="Times New Roman"/>
                <a:cs typeface="Times New Roman"/>
                <a:sym typeface="Times New Roman"/>
              </a:rPr>
              <a:t>Dataset-1</a:t>
            </a:r>
            <a:endParaRPr b="0" sz="2440">
              <a:solidFill>
                <a:srgbClr val="000000"/>
              </a:solidFill>
              <a:latin typeface="Times New Roman"/>
              <a:ea typeface="Times New Roman"/>
              <a:cs typeface="Times New Roman"/>
              <a:sym typeface="Times New Roman"/>
            </a:endParaRPr>
          </a:p>
        </p:txBody>
      </p:sp>
      <p:sp>
        <p:nvSpPr>
          <p:cNvPr id="126" name="Google Shape;126;g1163535762c_1_1"/>
          <p:cNvSpPr txBox="1"/>
          <p:nvPr>
            <p:ph idx="1" type="body"/>
          </p:nvPr>
        </p:nvSpPr>
        <p:spPr>
          <a:xfrm>
            <a:off x="292050" y="1167850"/>
            <a:ext cx="8520600" cy="36336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t/>
            </a:r>
            <a:endParaRPr sz="2000">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000">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000">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000">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000">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000">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000">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000">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000">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Clr>
                <a:srgbClr val="000000"/>
              </a:buClr>
              <a:buSzPts val="990"/>
              <a:buFont typeface="Arial"/>
              <a:buNone/>
            </a:pPr>
            <a:r>
              <a:rPr lang="en" sz="1900">
                <a:solidFill>
                  <a:srgbClr val="000000"/>
                </a:solidFill>
                <a:latin typeface="Times New Roman"/>
                <a:ea typeface="Times New Roman"/>
                <a:cs typeface="Times New Roman"/>
                <a:sym typeface="Times New Roman"/>
              </a:rPr>
              <a:t>                                     </a:t>
            </a:r>
            <a:r>
              <a:rPr lang="en" sz="1900">
                <a:solidFill>
                  <a:srgbClr val="000000"/>
                </a:solidFill>
                <a:latin typeface="Times New Roman"/>
                <a:ea typeface="Times New Roman"/>
                <a:cs typeface="Times New Roman"/>
                <a:sym typeface="Times New Roman"/>
              </a:rPr>
              <a:t>Snippet of  the Training data and testing data</a:t>
            </a:r>
            <a:endParaRPr sz="1900">
              <a:solidFill>
                <a:srgbClr val="000000"/>
              </a:solidFill>
              <a:latin typeface="Times New Roman"/>
              <a:ea typeface="Times New Roman"/>
              <a:cs typeface="Times New Roman"/>
              <a:sym typeface="Times New Roman"/>
            </a:endParaRPr>
          </a:p>
        </p:txBody>
      </p:sp>
      <p:pic>
        <p:nvPicPr>
          <p:cNvPr id="127" name="Google Shape;127;g1163535762c_1_1"/>
          <p:cNvPicPr preferRelativeResize="0"/>
          <p:nvPr/>
        </p:nvPicPr>
        <p:blipFill>
          <a:blip r:embed="rId3">
            <a:alphaModFix/>
          </a:blip>
          <a:stretch>
            <a:fillRect/>
          </a:stretch>
        </p:blipFill>
        <p:spPr>
          <a:xfrm>
            <a:off x="396475" y="1167850"/>
            <a:ext cx="8340250" cy="1151225"/>
          </a:xfrm>
          <a:prstGeom prst="rect">
            <a:avLst/>
          </a:prstGeom>
          <a:noFill/>
          <a:ln>
            <a:noFill/>
          </a:ln>
        </p:spPr>
      </p:pic>
      <p:pic>
        <p:nvPicPr>
          <p:cNvPr id="128" name="Google Shape;128;g1163535762c_1_1"/>
          <p:cNvPicPr preferRelativeResize="0"/>
          <p:nvPr/>
        </p:nvPicPr>
        <p:blipFill>
          <a:blip r:embed="rId4">
            <a:alphaModFix/>
          </a:blip>
          <a:stretch>
            <a:fillRect/>
          </a:stretch>
        </p:blipFill>
        <p:spPr>
          <a:xfrm>
            <a:off x="396475" y="2400300"/>
            <a:ext cx="8390350" cy="12644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g1163535762c_1_13"/>
          <p:cNvSpPr txBox="1"/>
          <p:nvPr>
            <p:ph type="title"/>
          </p:nvPr>
        </p:nvSpPr>
        <p:spPr>
          <a:xfrm>
            <a:off x="311700" y="445025"/>
            <a:ext cx="8520600" cy="606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0" lang="en" sz="2440">
                <a:solidFill>
                  <a:srgbClr val="000000"/>
                </a:solidFill>
                <a:latin typeface="Times New Roman"/>
                <a:ea typeface="Times New Roman"/>
                <a:cs typeface="Times New Roman"/>
                <a:sym typeface="Times New Roman"/>
              </a:rPr>
              <a:t>Data </a:t>
            </a:r>
            <a:r>
              <a:rPr b="0" lang="en" sz="2440">
                <a:solidFill>
                  <a:srgbClr val="000000"/>
                </a:solidFill>
                <a:latin typeface="Times New Roman"/>
                <a:ea typeface="Times New Roman"/>
                <a:cs typeface="Times New Roman"/>
                <a:sym typeface="Times New Roman"/>
              </a:rPr>
              <a:t>Preprocessing</a:t>
            </a:r>
            <a:endParaRPr b="0" sz="2440">
              <a:solidFill>
                <a:srgbClr val="000000"/>
              </a:solidFill>
              <a:latin typeface="Times New Roman"/>
              <a:ea typeface="Times New Roman"/>
              <a:cs typeface="Times New Roman"/>
              <a:sym typeface="Times New Roman"/>
            </a:endParaRPr>
          </a:p>
        </p:txBody>
      </p:sp>
      <p:sp>
        <p:nvSpPr>
          <p:cNvPr id="134" name="Google Shape;134;g1163535762c_1_13"/>
          <p:cNvSpPr txBox="1"/>
          <p:nvPr>
            <p:ph idx="1" type="body"/>
          </p:nvPr>
        </p:nvSpPr>
        <p:spPr>
          <a:xfrm>
            <a:off x="311700" y="1051150"/>
            <a:ext cx="8520600" cy="3517800"/>
          </a:xfrm>
          <a:prstGeom prst="rect">
            <a:avLst/>
          </a:prstGeom>
        </p:spPr>
        <p:txBody>
          <a:bodyPr anchorCtr="0" anchor="t" bIns="91425" lIns="91425" spcFirstLastPara="1" rIns="91425" wrap="square" tIns="91425">
            <a:noAutofit/>
          </a:bodyPr>
          <a:lstStyle/>
          <a:p>
            <a:pPr indent="-349250" lvl="0" marL="457200" rtl="0" algn="l">
              <a:lnSpc>
                <a:spcPct val="150000"/>
              </a:lnSpc>
              <a:spcBef>
                <a:spcPts val="0"/>
              </a:spcBef>
              <a:spcAft>
                <a:spcPts val="0"/>
              </a:spcAft>
              <a:buClr>
                <a:srgbClr val="111111"/>
              </a:buClr>
              <a:buSzPts val="1900"/>
              <a:buFont typeface="Times New Roman"/>
              <a:buChar char="●"/>
            </a:pPr>
            <a:r>
              <a:rPr lang="en" sz="1900">
                <a:solidFill>
                  <a:srgbClr val="000000"/>
                </a:solidFill>
                <a:highlight>
                  <a:srgbClr val="FFFFFF"/>
                </a:highlight>
                <a:latin typeface="Times New Roman"/>
                <a:ea typeface="Times New Roman"/>
                <a:cs typeface="Times New Roman"/>
                <a:sym typeface="Times New Roman"/>
              </a:rPr>
              <a:t>First step is to generate labels for the training dataset and testing dataset which are Remaining Useful Life (RUL), label1 and label2</a:t>
            </a:r>
            <a:endParaRPr sz="1900">
              <a:solidFill>
                <a:srgbClr val="111111"/>
              </a:solidFill>
              <a:highlight>
                <a:schemeClr val="lt1"/>
              </a:highlight>
              <a:latin typeface="Times New Roman"/>
              <a:ea typeface="Times New Roman"/>
              <a:cs typeface="Times New Roman"/>
              <a:sym typeface="Times New Roman"/>
            </a:endParaRPr>
          </a:p>
          <a:p>
            <a:pPr indent="-349250" lvl="0" marL="457200" rtl="0" algn="l">
              <a:lnSpc>
                <a:spcPct val="150000"/>
              </a:lnSpc>
              <a:spcBef>
                <a:spcPts val="0"/>
              </a:spcBef>
              <a:spcAft>
                <a:spcPts val="0"/>
              </a:spcAft>
              <a:buClr>
                <a:srgbClr val="111111"/>
              </a:buClr>
              <a:buSzPts val="1900"/>
              <a:buFont typeface="Times New Roman"/>
              <a:buChar char="●"/>
            </a:pPr>
            <a:r>
              <a:rPr lang="en" sz="1900">
                <a:solidFill>
                  <a:srgbClr val="111111"/>
                </a:solidFill>
                <a:highlight>
                  <a:schemeClr val="lt1"/>
                </a:highlight>
                <a:latin typeface="Times New Roman"/>
                <a:ea typeface="Times New Roman"/>
                <a:cs typeface="Times New Roman"/>
                <a:sym typeface="Times New Roman"/>
              </a:rPr>
              <a:t>MinMax normalization (from 0 to 1) :</a:t>
            </a:r>
            <a:r>
              <a:rPr lang="en" sz="1900">
                <a:solidFill>
                  <a:srgbClr val="000000"/>
                </a:solidFill>
                <a:highlight>
                  <a:srgbClr val="FFFFFF"/>
                </a:highlight>
                <a:latin typeface="Times New Roman"/>
                <a:ea typeface="Times New Roman"/>
                <a:cs typeface="Times New Roman"/>
                <a:sym typeface="Times New Roman"/>
              </a:rPr>
              <a:t>cycle column is also used for training so we will also include the cycle column. Here, we normalize the columns in the training dataset and testing dataset.</a:t>
            </a:r>
            <a:endParaRPr sz="1900">
              <a:solidFill>
                <a:srgbClr val="111111"/>
              </a:solidFill>
              <a:highlight>
                <a:schemeClr val="lt1"/>
              </a:highlight>
              <a:latin typeface="Times New Roman"/>
              <a:ea typeface="Times New Roman"/>
              <a:cs typeface="Times New Roman"/>
              <a:sym typeface="Times New Roman"/>
            </a:endParaRPr>
          </a:p>
          <a:p>
            <a:pPr indent="0" lvl="0" marL="457200" rtl="0" algn="l">
              <a:lnSpc>
                <a:spcPct val="131250"/>
              </a:lnSpc>
              <a:spcBef>
                <a:spcPts val="0"/>
              </a:spcBef>
              <a:spcAft>
                <a:spcPts val="0"/>
              </a:spcAft>
              <a:buNone/>
            </a:pPr>
            <a:r>
              <a:t/>
            </a:r>
            <a:endParaRPr sz="1900">
              <a:solidFill>
                <a:srgbClr val="111111"/>
              </a:solidFill>
              <a:highlight>
                <a:schemeClr val="lt1"/>
              </a:highlight>
              <a:latin typeface="Times New Roman"/>
              <a:ea typeface="Times New Roman"/>
              <a:cs typeface="Times New Roman"/>
              <a:sym typeface="Times New Roman"/>
            </a:endParaRPr>
          </a:p>
          <a:p>
            <a:pPr indent="0" lvl="0" marL="0" rtl="0" algn="l">
              <a:lnSpc>
                <a:spcPct val="131250"/>
              </a:lnSpc>
              <a:spcBef>
                <a:spcPts val="0"/>
              </a:spcBef>
              <a:spcAft>
                <a:spcPts val="0"/>
              </a:spcAft>
              <a:buNone/>
            </a:pPr>
            <a:r>
              <a:t/>
            </a:r>
            <a:endParaRPr sz="1900">
              <a:solidFill>
                <a:srgbClr val="111111"/>
              </a:solidFill>
              <a:highlight>
                <a:schemeClr val="lt1"/>
              </a:highlight>
              <a:latin typeface="Times New Roman"/>
              <a:ea typeface="Times New Roman"/>
              <a:cs typeface="Times New Roman"/>
              <a:sym typeface="Times New Roman"/>
            </a:endParaRPr>
          </a:p>
          <a:p>
            <a:pPr indent="0" lvl="0" marL="457200" rtl="0" algn="just">
              <a:lnSpc>
                <a:spcPct val="150000"/>
              </a:lnSpc>
              <a:spcBef>
                <a:spcPts val="0"/>
              </a:spcBef>
              <a:spcAft>
                <a:spcPts val="0"/>
              </a:spcAft>
              <a:buNone/>
            </a:pPr>
            <a:r>
              <a:t/>
            </a:r>
            <a:endParaRPr sz="1900">
              <a:solidFill>
                <a:srgbClr val="000000"/>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g129edc8c9f3_0_0"/>
          <p:cNvSpPr txBox="1"/>
          <p:nvPr>
            <p:ph idx="1" type="body"/>
          </p:nvPr>
        </p:nvSpPr>
        <p:spPr>
          <a:xfrm>
            <a:off x="302925" y="642750"/>
            <a:ext cx="2637600" cy="38580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sz="1900">
              <a:solidFill>
                <a:srgbClr val="111111"/>
              </a:solidFill>
              <a:latin typeface="Times New Roman"/>
              <a:ea typeface="Times New Roman"/>
              <a:cs typeface="Times New Roman"/>
              <a:sym typeface="Times New Roman"/>
            </a:endParaRPr>
          </a:p>
          <a:p>
            <a:pPr indent="0" lvl="0" marL="0" rtl="0" algn="ctr">
              <a:spcBef>
                <a:spcPts val="0"/>
              </a:spcBef>
              <a:spcAft>
                <a:spcPts val="0"/>
              </a:spcAft>
              <a:buNone/>
            </a:pPr>
            <a:r>
              <a:t/>
            </a:r>
            <a:endParaRPr sz="1900">
              <a:solidFill>
                <a:srgbClr val="111111"/>
              </a:solidFill>
              <a:latin typeface="Times New Roman"/>
              <a:ea typeface="Times New Roman"/>
              <a:cs typeface="Times New Roman"/>
              <a:sym typeface="Times New Roman"/>
            </a:endParaRPr>
          </a:p>
          <a:p>
            <a:pPr indent="0" lvl="0" marL="0" rtl="0" algn="ctr">
              <a:spcBef>
                <a:spcPts val="0"/>
              </a:spcBef>
              <a:spcAft>
                <a:spcPts val="0"/>
              </a:spcAft>
              <a:buNone/>
            </a:pPr>
            <a:r>
              <a:t/>
            </a:r>
            <a:endParaRPr sz="1900">
              <a:solidFill>
                <a:srgbClr val="111111"/>
              </a:solidFill>
              <a:latin typeface="Times New Roman"/>
              <a:ea typeface="Times New Roman"/>
              <a:cs typeface="Times New Roman"/>
              <a:sym typeface="Times New Roman"/>
            </a:endParaRPr>
          </a:p>
          <a:p>
            <a:pPr indent="0" lvl="0" marL="0" rtl="0" algn="ctr">
              <a:spcBef>
                <a:spcPts val="0"/>
              </a:spcBef>
              <a:spcAft>
                <a:spcPts val="0"/>
              </a:spcAft>
              <a:buNone/>
            </a:pPr>
            <a:r>
              <a:t/>
            </a:r>
            <a:endParaRPr sz="1900">
              <a:solidFill>
                <a:srgbClr val="111111"/>
              </a:solidFill>
              <a:latin typeface="Times New Roman"/>
              <a:ea typeface="Times New Roman"/>
              <a:cs typeface="Times New Roman"/>
              <a:sym typeface="Times New Roman"/>
            </a:endParaRPr>
          </a:p>
          <a:p>
            <a:pPr indent="0" lvl="0" marL="0" rtl="0" algn="ctr">
              <a:spcBef>
                <a:spcPts val="0"/>
              </a:spcBef>
              <a:spcAft>
                <a:spcPts val="0"/>
              </a:spcAft>
              <a:buNone/>
            </a:pPr>
            <a:r>
              <a:rPr lang="en" sz="1900">
                <a:solidFill>
                  <a:srgbClr val="111111"/>
                </a:solidFill>
                <a:latin typeface="Times New Roman"/>
                <a:ea typeface="Times New Roman"/>
                <a:cs typeface="Times New Roman"/>
                <a:sym typeface="Times New Roman"/>
              </a:rPr>
              <a:t>Snippet for data preprocessing-Training data</a:t>
            </a:r>
            <a:endParaRPr sz="1900">
              <a:solidFill>
                <a:srgbClr val="111111"/>
              </a:solidFill>
              <a:latin typeface="Times New Roman"/>
              <a:ea typeface="Times New Roman"/>
              <a:cs typeface="Times New Roman"/>
              <a:sym typeface="Times New Roman"/>
            </a:endParaRPr>
          </a:p>
          <a:p>
            <a:pPr indent="0" lvl="0" marL="0" rtl="0" algn="ctr">
              <a:spcBef>
                <a:spcPts val="0"/>
              </a:spcBef>
              <a:spcAft>
                <a:spcPts val="0"/>
              </a:spcAft>
              <a:buNone/>
            </a:pPr>
            <a:r>
              <a:t/>
            </a:r>
            <a:endParaRPr sz="1900">
              <a:solidFill>
                <a:srgbClr val="111111"/>
              </a:solidFill>
              <a:latin typeface="Times New Roman"/>
              <a:ea typeface="Times New Roman"/>
              <a:cs typeface="Times New Roman"/>
              <a:sym typeface="Times New Roman"/>
            </a:endParaRPr>
          </a:p>
        </p:txBody>
      </p:sp>
      <p:sp>
        <p:nvSpPr>
          <p:cNvPr id="140" name="Google Shape;140;g129edc8c9f3_0_0"/>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pic>
        <p:nvPicPr>
          <p:cNvPr id="141" name="Google Shape;141;g129edc8c9f3_0_0"/>
          <p:cNvPicPr preferRelativeResize="0"/>
          <p:nvPr/>
        </p:nvPicPr>
        <p:blipFill>
          <a:blip r:embed="rId3">
            <a:alphaModFix/>
          </a:blip>
          <a:stretch>
            <a:fillRect/>
          </a:stretch>
        </p:blipFill>
        <p:spPr>
          <a:xfrm>
            <a:off x="3667800" y="660250"/>
            <a:ext cx="5093600" cy="3823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g11bb50c3012_1_5"/>
          <p:cNvSpPr txBox="1"/>
          <p:nvPr>
            <p:ph type="title"/>
          </p:nvPr>
        </p:nvSpPr>
        <p:spPr>
          <a:xfrm>
            <a:off x="311700" y="348300"/>
            <a:ext cx="85206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600">
                <a:solidFill>
                  <a:srgbClr val="292929"/>
                </a:solidFill>
                <a:latin typeface="Times New Roman"/>
                <a:ea typeface="Times New Roman"/>
                <a:cs typeface="Times New Roman"/>
                <a:sym typeface="Times New Roman"/>
              </a:rPr>
              <a:t>ALGORITHMS</a:t>
            </a:r>
            <a:endParaRPr sz="2600">
              <a:solidFill>
                <a:srgbClr val="292929"/>
              </a:solidFill>
              <a:latin typeface="Times New Roman"/>
              <a:ea typeface="Times New Roman"/>
              <a:cs typeface="Times New Roman"/>
              <a:sym typeface="Times New Roman"/>
            </a:endParaRPr>
          </a:p>
        </p:txBody>
      </p:sp>
      <p:sp>
        <p:nvSpPr>
          <p:cNvPr id="147" name="Google Shape;147;g11bb50c3012_1_5"/>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349250" lvl="0" marL="457200" rtl="0" algn="l">
              <a:lnSpc>
                <a:spcPct val="150000"/>
              </a:lnSpc>
              <a:spcBef>
                <a:spcPts val="0"/>
              </a:spcBef>
              <a:spcAft>
                <a:spcPts val="0"/>
              </a:spcAft>
              <a:buClr>
                <a:srgbClr val="292929"/>
              </a:buClr>
              <a:buSzPts val="1900"/>
              <a:buFont typeface="Times New Roman"/>
              <a:buChar char="●"/>
            </a:pPr>
            <a:r>
              <a:rPr lang="en" sz="1900">
                <a:solidFill>
                  <a:srgbClr val="292929"/>
                </a:solidFill>
                <a:latin typeface="Times New Roman"/>
                <a:ea typeface="Times New Roman"/>
                <a:cs typeface="Times New Roman"/>
                <a:sym typeface="Times New Roman"/>
              </a:rPr>
              <a:t>Algorithms used for this project are to find out RUL(remaining useful lifetime) of the engine and to predict whether engine will fail or not.</a:t>
            </a:r>
            <a:endParaRPr sz="1900">
              <a:solidFill>
                <a:srgbClr val="292929"/>
              </a:solidFill>
              <a:latin typeface="Times New Roman"/>
              <a:ea typeface="Times New Roman"/>
              <a:cs typeface="Times New Roman"/>
              <a:sym typeface="Times New Roman"/>
            </a:endParaRPr>
          </a:p>
          <a:p>
            <a:pPr indent="-349250" lvl="0" marL="457200" rtl="0" algn="l">
              <a:lnSpc>
                <a:spcPct val="150000"/>
              </a:lnSpc>
              <a:spcBef>
                <a:spcPts val="0"/>
              </a:spcBef>
              <a:spcAft>
                <a:spcPts val="0"/>
              </a:spcAft>
              <a:buClr>
                <a:srgbClr val="292929"/>
              </a:buClr>
              <a:buSzPts val="1900"/>
              <a:buChar char="●"/>
            </a:pPr>
            <a:r>
              <a:rPr lang="en" sz="1900">
                <a:solidFill>
                  <a:srgbClr val="292929"/>
                </a:solidFill>
                <a:latin typeface="Times New Roman"/>
                <a:ea typeface="Times New Roman"/>
                <a:cs typeface="Times New Roman"/>
                <a:sym typeface="Times New Roman"/>
              </a:rPr>
              <a:t>Remaining useful lifetime:It  is the number of cycles between that cycle and the last cycle of the same engine.</a:t>
            </a:r>
            <a:endParaRPr sz="1900">
              <a:solidFill>
                <a:srgbClr val="292929"/>
              </a:solidFill>
              <a:latin typeface="Times New Roman"/>
              <a:ea typeface="Times New Roman"/>
              <a:cs typeface="Times New Roman"/>
              <a:sym typeface="Times New Roman"/>
            </a:endParaRPr>
          </a:p>
          <a:p>
            <a:pPr indent="-349250" lvl="0" marL="457200" rtl="0" algn="l">
              <a:lnSpc>
                <a:spcPct val="150000"/>
              </a:lnSpc>
              <a:spcBef>
                <a:spcPts val="0"/>
              </a:spcBef>
              <a:spcAft>
                <a:spcPts val="0"/>
              </a:spcAft>
              <a:buClr>
                <a:srgbClr val="292929"/>
              </a:buClr>
              <a:buSzPts val="1900"/>
              <a:buFont typeface="Times New Roman"/>
              <a:buChar char="●"/>
            </a:pPr>
            <a:r>
              <a:rPr lang="en" sz="1900">
                <a:solidFill>
                  <a:srgbClr val="292929"/>
                </a:solidFill>
                <a:latin typeface="Times New Roman"/>
                <a:ea typeface="Times New Roman"/>
                <a:cs typeface="Times New Roman"/>
                <a:sym typeface="Times New Roman"/>
              </a:rPr>
              <a:t>Engine failure:If the remaining cycles is less than specific number of cycles,the engine will fail in this period, otherwise the engine is fine.  </a:t>
            </a:r>
            <a:endParaRPr sz="1900">
              <a:solidFill>
                <a:srgbClr val="292929"/>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11bb50c3012_1_71"/>
          <p:cNvSpPr txBox="1"/>
          <p:nvPr>
            <p:ph type="title"/>
          </p:nvPr>
        </p:nvSpPr>
        <p:spPr>
          <a:xfrm>
            <a:off x="311700" y="330950"/>
            <a:ext cx="8520600" cy="590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400">
                <a:solidFill>
                  <a:srgbClr val="000000"/>
                </a:solidFill>
                <a:latin typeface="Times New Roman"/>
                <a:ea typeface="Times New Roman"/>
                <a:cs typeface="Times New Roman"/>
                <a:sym typeface="Times New Roman"/>
              </a:rPr>
              <a:t>I</a:t>
            </a:r>
            <a:r>
              <a:rPr lang="en" sz="2400">
                <a:solidFill>
                  <a:srgbClr val="000000"/>
                </a:solidFill>
                <a:latin typeface="Times New Roman"/>
                <a:ea typeface="Times New Roman"/>
                <a:cs typeface="Times New Roman"/>
                <a:sym typeface="Times New Roman"/>
              </a:rPr>
              <a:t>MPLEMENTATION</a:t>
            </a:r>
            <a:endParaRPr sz="2400">
              <a:solidFill>
                <a:srgbClr val="000000"/>
              </a:solidFill>
              <a:latin typeface="Times New Roman"/>
              <a:ea typeface="Times New Roman"/>
              <a:cs typeface="Times New Roman"/>
              <a:sym typeface="Times New Roman"/>
            </a:endParaRPr>
          </a:p>
        </p:txBody>
      </p:sp>
      <p:sp>
        <p:nvSpPr>
          <p:cNvPr id="153" name="Google Shape;153;g11bb50c3012_1_71"/>
          <p:cNvSpPr txBox="1"/>
          <p:nvPr>
            <p:ph idx="1" type="body"/>
          </p:nvPr>
        </p:nvSpPr>
        <p:spPr>
          <a:xfrm>
            <a:off x="311700" y="1476975"/>
            <a:ext cx="8520600" cy="3302700"/>
          </a:xfrm>
          <a:prstGeom prst="rect">
            <a:avLst/>
          </a:prstGeom>
        </p:spPr>
        <p:txBody>
          <a:bodyPr anchorCtr="0" anchor="t" bIns="91425" lIns="91425" spcFirstLastPara="1" rIns="91425" wrap="square" tIns="91425">
            <a:normAutofit fontScale="85000" lnSpcReduction="20000"/>
          </a:bodyPr>
          <a:lstStyle/>
          <a:p>
            <a:pPr indent="0" lvl="0" marL="0" rtl="0" algn="l">
              <a:lnSpc>
                <a:spcPct val="150000"/>
              </a:lnSpc>
              <a:spcBef>
                <a:spcPts val="0"/>
              </a:spcBef>
              <a:spcAft>
                <a:spcPts val="0"/>
              </a:spcAft>
              <a:buNone/>
            </a:pPr>
            <a:r>
              <a:rPr lang="en" sz="2429">
                <a:solidFill>
                  <a:srgbClr val="292929"/>
                </a:solidFill>
                <a:latin typeface="Times New Roman"/>
                <a:ea typeface="Times New Roman"/>
                <a:cs typeface="Times New Roman"/>
                <a:sym typeface="Times New Roman"/>
              </a:rPr>
              <a:t>The following algorithms are implemented to predict RUL(remaining useful lifetime):</a:t>
            </a:r>
            <a:endParaRPr sz="2429">
              <a:solidFill>
                <a:srgbClr val="292929"/>
              </a:solidFill>
              <a:latin typeface="Times New Roman"/>
              <a:ea typeface="Times New Roman"/>
              <a:cs typeface="Times New Roman"/>
              <a:sym typeface="Times New Roman"/>
            </a:endParaRPr>
          </a:p>
          <a:p>
            <a:pPr indent="-359706" lvl="0" marL="457200" rtl="0" algn="l">
              <a:lnSpc>
                <a:spcPct val="150000"/>
              </a:lnSpc>
              <a:spcBef>
                <a:spcPts val="0"/>
              </a:spcBef>
              <a:spcAft>
                <a:spcPts val="0"/>
              </a:spcAft>
              <a:buClr>
                <a:srgbClr val="292929"/>
              </a:buClr>
              <a:buSzPct val="100000"/>
              <a:buFont typeface="Times New Roman"/>
              <a:buChar char="●"/>
            </a:pPr>
            <a:r>
              <a:rPr lang="en" sz="2429">
                <a:solidFill>
                  <a:srgbClr val="292929"/>
                </a:solidFill>
                <a:latin typeface="Times New Roman"/>
                <a:ea typeface="Times New Roman"/>
                <a:cs typeface="Times New Roman"/>
                <a:sym typeface="Times New Roman"/>
              </a:rPr>
              <a:t>LSTM</a:t>
            </a:r>
            <a:endParaRPr sz="2429">
              <a:solidFill>
                <a:srgbClr val="292929"/>
              </a:solidFill>
              <a:latin typeface="Times New Roman"/>
              <a:ea typeface="Times New Roman"/>
              <a:cs typeface="Times New Roman"/>
              <a:sym typeface="Times New Roman"/>
            </a:endParaRPr>
          </a:p>
          <a:p>
            <a:pPr indent="-359706" lvl="0" marL="457200" rtl="0" algn="l">
              <a:lnSpc>
                <a:spcPct val="150000"/>
              </a:lnSpc>
              <a:spcBef>
                <a:spcPts val="0"/>
              </a:spcBef>
              <a:spcAft>
                <a:spcPts val="0"/>
              </a:spcAft>
              <a:buClr>
                <a:srgbClr val="292929"/>
              </a:buClr>
              <a:buSzPct val="100000"/>
              <a:buFont typeface="Times New Roman"/>
              <a:buChar char="●"/>
            </a:pPr>
            <a:r>
              <a:rPr lang="en" sz="2429">
                <a:solidFill>
                  <a:srgbClr val="292929"/>
                </a:solidFill>
                <a:latin typeface="Times New Roman"/>
                <a:ea typeface="Times New Roman"/>
                <a:cs typeface="Times New Roman"/>
                <a:sym typeface="Times New Roman"/>
              </a:rPr>
              <a:t>Multiple Linear Regression</a:t>
            </a:r>
            <a:endParaRPr sz="2429">
              <a:solidFill>
                <a:srgbClr val="292929"/>
              </a:solidFill>
              <a:latin typeface="Times New Roman"/>
              <a:ea typeface="Times New Roman"/>
              <a:cs typeface="Times New Roman"/>
              <a:sym typeface="Times New Roman"/>
            </a:endParaRPr>
          </a:p>
          <a:p>
            <a:pPr indent="-359706" lvl="0" marL="457200" rtl="0" algn="l">
              <a:lnSpc>
                <a:spcPct val="150000"/>
              </a:lnSpc>
              <a:spcBef>
                <a:spcPts val="0"/>
              </a:spcBef>
              <a:spcAft>
                <a:spcPts val="0"/>
              </a:spcAft>
              <a:buClr>
                <a:srgbClr val="292929"/>
              </a:buClr>
              <a:buSzPct val="100000"/>
              <a:buFont typeface="Times New Roman"/>
              <a:buChar char="●"/>
            </a:pPr>
            <a:r>
              <a:rPr lang="en" sz="2429">
                <a:solidFill>
                  <a:srgbClr val="292929"/>
                </a:solidFill>
                <a:latin typeface="Times New Roman"/>
                <a:ea typeface="Times New Roman"/>
                <a:cs typeface="Times New Roman"/>
                <a:sym typeface="Times New Roman"/>
              </a:rPr>
              <a:t>Random forest</a:t>
            </a:r>
            <a:endParaRPr sz="2429">
              <a:solidFill>
                <a:srgbClr val="292929"/>
              </a:solidFill>
              <a:latin typeface="Times New Roman"/>
              <a:ea typeface="Times New Roman"/>
              <a:cs typeface="Times New Roman"/>
              <a:sym typeface="Times New Roman"/>
            </a:endParaRPr>
          </a:p>
          <a:p>
            <a:pPr indent="-359706" lvl="0" marL="457200" rtl="0" algn="l">
              <a:lnSpc>
                <a:spcPct val="150000"/>
              </a:lnSpc>
              <a:spcBef>
                <a:spcPts val="0"/>
              </a:spcBef>
              <a:spcAft>
                <a:spcPts val="0"/>
              </a:spcAft>
              <a:buClr>
                <a:srgbClr val="292929"/>
              </a:buClr>
              <a:buSzPct val="100000"/>
              <a:buFont typeface="Times New Roman"/>
              <a:buChar char="●"/>
            </a:pPr>
            <a:r>
              <a:rPr lang="en" sz="2429">
                <a:solidFill>
                  <a:srgbClr val="292929"/>
                </a:solidFill>
                <a:latin typeface="Times New Roman"/>
                <a:ea typeface="Times New Roman"/>
                <a:cs typeface="Times New Roman"/>
                <a:sym typeface="Times New Roman"/>
              </a:rPr>
              <a:t>Decision  Tree</a:t>
            </a:r>
            <a:endParaRPr sz="2429">
              <a:solidFill>
                <a:srgbClr val="292929"/>
              </a:solidFill>
              <a:latin typeface="Times New Roman"/>
              <a:ea typeface="Times New Roman"/>
              <a:cs typeface="Times New Roman"/>
              <a:sym typeface="Times New Roman"/>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54" name="Google Shape;154;g11bb50c3012_1_71"/>
          <p:cNvSpPr txBox="1"/>
          <p:nvPr/>
        </p:nvSpPr>
        <p:spPr>
          <a:xfrm>
            <a:off x="311700" y="921638"/>
            <a:ext cx="50556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a:latin typeface="Times New Roman"/>
                <a:ea typeface="Times New Roman"/>
                <a:cs typeface="Times New Roman"/>
                <a:sym typeface="Times New Roman"/>
              </a:rPr>
              <a:t>Algorithms for predicting RUL</a:t>
            </a:r>
            <a:endParaRPr b="1" sz="1900">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g11bb50c3012_1_539"/>
          <p:cNvSpPr txBox="1"/>
          <p:nvPr>
            <p:ph idx="1" type="body"/>
          </p:nvPr>
        </p:nvSpPr>
        <p:spPr>
          <a:xfrm>
            <a:off x="311700" y="456425"/>
            <a:ext cx="8520600" cy="41388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b="1" lang="en">
                <a:solidFill>
                  <a:srgbClr val="292929"/>
                </a:solidFill>
                <a:latin typeface="Times New Roman"/>
                <a:ea typeface="Times New Roman"/>
                <a:cs typeface="Times New Roman"/>
                <a:sym typeface="Times New Roman"/>
              </a:rPr>
              <a:t>Multiple</a:t>
            </a:r>
            <a:r>
              <a:rPr lang="en">
                <a:solidFill>
                  <a:srgbClr val="292929"/>
                </a:solidFill>
                <a:latin typeface="Times New Roman"/>
                <a:ea typeface="Times New Roman"/>
                <a:cs typeface="Times New Roman"/>
                <a:sym typeface="Times New Roman"/>
              </a:rPr>
              <a:t> </a:t>
            </a:r>
            <a:r>
              <a:rPr b="1" lang="en" sz="1700">
                <a:solidFill>
                  <a:srgbClr val="111111"/>
                </a:solidFill>
                <a:latin typeface="Times New Roman"/>
                <a:ea typeface="Times New Roman"/>
                <a:cs typeface="Times New Roman"/>
                <a:sym typeface="Times New Roman"/>
              </a:rPr>
              <a:t>Linear Regression</a:t>
            </a:r>
            <a:r>
              <a:rPr lang="en" sz="1700">
                <a:solidFill>
                  <a:srgbClr val="111111"/>
                </a:solidFill>
                <a:latin typeface="Times New Roman"/>
                <a:ea typeface="Times New Roman"/>
                <a:cs typeface="Times New Roman"/>
                <a:sym typeface="Times New Roman"/>
              </a:rPr>
              <a:t>: A statistical method of analysis that estimates the relationship between one or more independent variables and a dependent variable; the method estimates the relationship by minimizing the sum of the squares in the difference between the observed and predicted values of the dependent variable configured as a straight line or hyperplane.</a:t>
            </a:r>
            <a:endParaRPr sz="1700">
              <a:solidFill>
                <a:srgbClr val="11111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700">
              <a:solidFill>
                <a:srgbClr val="111111"/>
              </a:solidFill>
              <a:latin typeface="Times New Roman"/>
              <a:ea typeface="Times New Roman"/>
              <a:cs typeface="Times New Roman"/>
              <a:sym typeface="Times New Roman"/>
            </a:endParaRPr>
          </a:p>
          <a:p>
            <a:pPr indent="0" lvl="0" marL="0" rtl="0" algn="just">
              <a:spcBef>
                <a:spcPts val="0"/>
              </a:spcBef>
              <a:spcAft>
                <a:spcPts val="0"/>
              </a:spcAft>
              <a:buNone/>
            </a:pPr>
            <a:r>
              <a:rPr b="1" lang="en" sz="1700">
                <a:solidFill>
                  <a:srgbClr val="111111"/>
                </a:solidFill>
                <a:latin typeface="Times New Roman"/>
                <a:ea typeface="Times New Roman"/>
                <a:cs typeface="Times New Roman"/>
                <a:sym typeface="Times New Roman"/>
              </a:rPr>
              <a:t>Decision Tree</a:t>
            </a:r>
            <a:r>
              <a:rPr lang="en" sz="1700">
                <a:solidFill>
                  <a:srgbClr val="111111"/>
                </a:solidFill>
                <a:latin typeface="Times New Roman"/>
                <a:ea typeface="Times New Roman"/>
                <a:cs typeface="Times New Roman"/>
                <a:sym typeface="Times New Roman"/>
              </a:rPr>
              <a:t>: It learns in a hierarchical fashion by repeatedly splitting the dataset into separate branches that maximize the information gain of each split. In regression tree, the value obtained by terminal nodes in the training data is the mean response of observation falling in that region.</a:t>
            </a:r>
            <a:endParaRPr sz="1700">
              <a:solidFill>
                <a:srgbClr val="11111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700">
              <a:solidFill>
                <a:srgbClr val="111111"/>
              </a:solidFill>
              <a:latin typeface="Times New Roman"/>
              <a:ea typeface="Times New Roman"/>
              <a:cs typeface="Times New Roman"/>
              <a:sym typeface="Times New Roman"/>
            </a:endParaRPr>
          </a:p>
          <a:p>
            <a:pPr indent="0" lvl="0" marL="0" rtl="0" algn="just">
              <a:spcBef>
                <a:spcPts val="0"/>
              </a:spcBef>
              <a:spcAft>
                <a:spcPts val="0"/>
              </a:spcAft>
              <a:buNone/>
            </a:pPr>
            <a:r>
              <a:rPr b="1" lang="en" sz="1700">
                <a:solidFill>
                  <a:srgbClr val="111111"/>
                </a:solidFill>
                <a:latin typeface="Times New Roman"/>
                <a:ea typeface="Times New Roman"/>
                <a:cs typeface="Times New Roman"/>
                <a:sym typeface="Times New Roman"/>
              </a:rPr>
              <a:t>Random Forest</a:t>
            </a:r>
            <a:r>
              <a:rPr lang="en" sz="1700">
                <a:solidFill>
                  <a:srgbClr val="111111"/>
                </a:solidFill>
                <a:latin typeface="Times New Roman"/>
                <a:ea typeface="Times New Roman"/>
                <a:cs typeface="Times New Roman"/>
                <a:sym typeface="Times New Roman"/>
              </a:rPr>
              <a:t>: An ensemble learning method for classification, regression and other tasks, that operate by constructing a multitude of decision trees at training time and outputting the class that is mean prediction (regression) of the individual trees.</a:t>
            </a:r>
            <a:endParaRPr sz="1700">
              <a:solidFill>
                <a:srgbClr val="11111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g11bb50c3012_1_544"/>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540">
                <a:solidFill>
                  <a:srgbClr val="111111"/>
                </a:solidFill>
                <a:latin typeface="Times New Roman"/>
                <a:ea typeface="Times New Roman"/>
                <a:cs typeface="Times New Roman"/>
                <a:sym typeface="Times New Roman"/>
              </a:rPr>
              <a:t>LSTM</a:t>
            </a:r>
            <a:endParaRPr sz="2540">
              <a:solidFill>
                <a:srgbClr val="111111"/>
              </a:solidFill>
              <a:latin typeface="Times New Roman"/>
              <a:ea typeface="Times New Roman"/>
              <a:cs typeface="Times New Roman"/>
              <a:sym typeface="Times New Roman"/>
            </a:endParaRPr>
          </a:p>
        </p:txBody>
      </p:sp>
      <p:sp>
        <p:nvSpPr>
          <p:cNvPr id="165" name="Google Shape;165;g11bb50c3012_1_544"/>
          <p:cNvSpPr txBox="1"/>
          <p:nvPr>
            <p:ph idx="1" type="body"/>
          </p:nvPr>
        </p:nvSpPr>
        <p:spPr>
          <a:xfrm>
            <a:off x="311700" y="1220050"/>
            <a:ext cx="8520600" cy="3348900"/>
          </a:xfrm>
          <a:prstGeom prst="rect">
            <a:avLst/>
          </a:prstGeom>
        </p:spPr>
        <p:txBody>
          <a:bodyPr anchorCtr="0" anchor="t" bIns="91425" lIns="91425" spcFirstLastPara="1" rIns="91425" wrap="square" tIns="91425">
            <a:normAutofit/>
          </a:bodyPr>
          <a:lstStyle/>
          <a:p>
            <a:pPr indent="-342900" lvl="0" marL="457200" rtl="0" algn="just">
              <a:lnSpc>
                <a:spcPct val="150000"/>
              </a:lnSpc>
              <a:spcBef>
                <a:spcPts val="0"/>
              </a:spcBef>
              <a:spcAft>
                <a:spcPts val="0"/>
              </a:spcAft>
              <a:buClr>
                <a:srgbClr val="333333"/>
              </a:buClr>
              <a:buSzPts val="1800"/>
              <a:buFont typeface="Times New Roman"/>
              <a:buChar char="●"/>
            </a:pPr>
            <a:r>
              <a:rPr lang="en">
                <a:solidFill>
                  <a:srgbClr val="333333"/>
                </a:solidFill>
                <a:highlight>
                  <a:srgbClr val="FFFFFF"/>
                </a:highlight>
                <a:latin typeface="Times New Roman"/>
                <a:ea typeface="Times New Roman"/>
                <a:cs typeface="Times New Roman"/>
                <a:sym typeface="Times New Roman"/>
              </a:rPr>
              <a:t>Long Short Term Memory networks – usually called “LSTMs” – are a special kind of RNN, capable of learning long-term dependencies. </a:t>
            </a:r>
            <a:endParaRPr>
              <a:solidFill>
                <a:srgbClr val="333333"/>
              </a:solidFill>
              <a:highlight>
                <a:srgbClr val="FFFFFF"/>
              </a:highlight>
              <a:latin typeface="Times New Roman"/>
              <a:ea typeface="Times New Roman"/>
              <a:cs typeface="Times New Roman"/>
              <a:sym typeface="Times New Roman"/>
            </a:endParaRPr>
          </a:p>
          <a:p>
            <a:pPr indent="-342900" lvl="0" marL="457200" rtl="0" algn="just">
              <a:lnSpc>
                <a:spcPct val="150000"/>
              </a:lnSpc>
              <a:spcBef>
                <a:spcPts val="0"/>
              </a:spcBef>
              <a:spcAft>
                <a:spcPts val="0"/>
              </a:spcAft>
              <a:buClr>
                <a:srgbClr val="333333"/>
              </a:buClr>
              <a:buSzPts val="1800"/>
              <a:buFont typeface="Times New Roman"/>
              <a:buChar char="●"/>
            </a:pPr>
            <a:r>
              <a:rPr lang="en">
                <a:solidFill>
                  <a:srgbClr val="333333"/>
                </a:solidFill>
                <a:highlight>
                  <a:srgbClr val="FFFFFF"/>
                </a:highlight>
                <a:latin typeface="Times New Roman"/>
                <a:ea typeface="Times New Roman"/>
                <a:cs typeface="Times New Roman"/>
                <a:sym typeface="Times New Roman"/>
              </a:rPr>
              <a:t>LSTMs are explicitly designed to avoid the long-term dependency problem.</a:t>
            </a:r>
            <a:endParaRPr>
              <a:solidFill>
                <a:srgbClr val="333333"/>
              </a:solidFill>
              <a:highlight>
                <a:srgbClr val="FFFFFF"/>
              </a:highlight>
              <a:latin typeface="Times New Roman"/>
              <a:ea typeface="Times New Roman"/>
              <a:cs typeface="Times New Roman"/>
              <a:sym typeface="Times New Roman"/>
            </a:endParaRPr>
          </a:p>
          <a:p>
            <a:pPr indent="-342900" lvl="0" marL="457200" rtl="0" algn="just">
              <a:lnSpc>
                <a:spcPct val="150000"/>
              </a:lnSpc>
              <a:spcBef>
                <a:spcPts val="0"/>
              </a:spcBef>
              <a:spcAft>
                <a:spcPts val="0"/>
              </a:spcAft>
              <a:buClr>
                <a:srgbClr val="333333"/>
              </a:buClr>
              <a:buSzPts val="1800"/>
              <a:buFont typeface="Times New Roman"/>
              <a:buChar char="●"/>
            </a:pPr>
            <a:r>
              <a:rPr lang="en">
                <a:solidFill>
                  <a:srgbClr val="333333"/>
                </a:solidFill>
                <a:highlight>
                  <a:srgbClr val="FFFFFF"/>
                </a:highlight>
                <a:latin typeface="Times New Roman"/>
                <a:ea typeface="Times New Roman"/>
                <a:cs typeface="Times New Roman"/>
                <a:sym typeface="Times New Roman"/>
              </a:rPr>
              <a:t>The key to LSTMs is the cell state.</a:t>
            </a:r>
            <a:endParaRPr>
              <a:solidFill>
                <a:srgbClr val="333333"/>
              </a:solidFill>
              <a:highlight>
                <a:srgbClr val="FFFFFF"/>
              </a:highlight>
              <a:latin typeface="Times New Roman"/>
              <a:ea typeface="Times New Roman"/>
              <a:cs typeface="Times New Roman"/>
              <a:sym typeface="Times New Roman"/>
            </a:endParaRPr>
          </a:p>
          <a:p>
            <a:pPr indent="-342900" lvl="0" marL="457200" rtl="0" algn="just">
              <a:lnSpc>
                <a:spcPct val="150000"/>
              </a:lnSpc>
              <a:spcBef>
                <a:spcPts val="0"/>
              </a:spcBef>
              <a:spcAft>
                <a:spcPts val="0"/>
              </a:spcAft>
              <a:buClr>
                <a:srgbClr val="333333"/>
              </a:buClr>
              <a:buSzPts val="1800"/>
              <a:buFont typeface="Times New Roman"/>
              <a:buChar char="●"/>
            </a:pPr>
            <a:r>
              <a:rPr lang="en">
                <a:solidFill>
                  <a:srgbClr val="333333"/>
                </a:solidFill>
                <a:highlight>
                  <a:srgbClr val="FFFFFF"/>
                </a:highlight>
                <a:latin typeface="Times New Roman"/>
                <a:ea typeface="Times New Roman"/>
                <a:cs typeface="Times New Roman"/>
                <a:sym typeface="Times New Roman"/>
              </a:rPr>
              <a:t>The LSTM does have the ability to remove or add information to the cell state, carefully regulated by structures called gates.</a:t>
            </a:r>
            <a:endParaRPr>
              <a:solidFill>
                <a:srgbClr val="333333"/>
              </a:solidFill>
              <a:highlight>
                <a:srgbClr val="FFFFFF"/>
              </a:highlight>
              <a:latin typeface="Times New Roman"/>
              <a:ea typeface="Times New Roman"/>
              <a:cs typeface="Times New Roman"/>
              <a:sym typeface="Times New Roman"/>
            </a:endParaRPr>
          </a:p>
          <a:p>
            <a:pPr indent="-342900" lvl="0" marL="457200" rtl="0" algn="just">
              <a:lnSpc>
                <a:spcPct val="150000"/>
              </a:lnSpc>
              <a:spcBef>
                <a:spcPts val="0"/>
              </a:spcBef>
              <a:spcAft>
                <a:spcPts val="0"/>
              </a:spcAft>
              <a:buClr>
                <a:srgbClr val="333333"/>
              </a:buClr>
              <a:buSzPts val="1800"/>
              <a:buFont typeface="Times New Roman"/>
              <a:buChar char="●"/>
            </a:pPr>
            <a:r>
              <a:rPr lang="en">
                <a:solidFill>
                  <a:srgbClr val="333333"/>
                </a:solidFill>
                <a:highlight>
                  <a:srgbClr val="FFFFFF"/>
                </a:highlight>
                <a:latin typeface="Times New Roman"/>
                <a:ea typeface="Times New Roman"/>
                <a:cs typeface="Times New Roman"/>
                <a:sym typeface="Times New Roman"/>
              </a:rPr>
              <a:t>An LSTM has three of these gates, to protect and control the cell state.</a:t>
            </a:r>
            <a:endParaRPr>
              <a:solidFill>
                <a:srgbClr val="333333"/>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g12834b5596b_1_25"/>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00">
                <a:solidFill>
                  <a:srgbClr val="111111"/>
                </a:solidFill>
                <a:latin typeface="Times New Roman"/>
                <a:ea typeface="Times New Roman"/>
                <a:cs typeface="Times New Roman"/>
                <a:sym typeface="Times New Roman"/>
              </a:rPr>
              <a:t>LSTM </a:t>
            </a:r>
            <a:endParaRPr sz="2500">
              <a:solidFill>
                <a:srgbClr val="111111"/>
              </a:solidFill>
              <a:latin typeface="Times New Roman"/>
              <a:ea typeface="Times New Roman"/>
              <a:cs typeface="Times New Roman"/>
              <a:sym typeface="Times New Roman"/>
            </a:endParaRPr>
          </a:p>
          <a:p>
            <a:pPr indent="0" lvl="0" marL="0" rtl="0" algn="l">
              <a:spcBef>
                <a:spcPts val="0"/>
              </a:spcBef>
              <a:spcAft>
                <a:spcPts val="0"/>
              </a:spcAft>
              <a:buSzPts val="990"/>
              <a:buNone/>
            </a:pPr>
            <a:r>
              <a:t/>
            </a:r>
            <a:endParaRPr sz="3540">
              <a:latin typeface="Times New Roman"/>
              <a:ea typeface="Times New Roman"/>
              <a:cs typeface="Times New Roman"/>
              <a:sym typeface="Times New Roman"/>
            </a:endParaRPr>
          </a:p>
        </p:txBody>
      </p:sp>
      <p:sp>
        <p:nvSpPr>
          <p:cNvPr id="171" name="Google Shape;171;g12834b5596b_1_25"/>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349250" lvl="0" marL="457200" rtl="0" algn="just">
              <a:lnSpc>
                <a:spcPct val="150000"/>
              </a:lnSpc>
              <a:spcBef>
                <a:spcPts val="0"/>
              </a:spcBef>
              <a:spcAft>
                <a:spcPts val="0"/>
              </a:spcAft>
              <a:buClr>
                <a:srgbClr val="111111"/>
              </a:buClr>
              <a:buSzPts val="1900"/>
              <a:buFont typeface="Times New Roman"/>
              <a:buChar char="●"/>
            </a:pPr>
            <a:r>
              <a:rPr lang="en" sz="1900">
                <a:solidFill>
                  <a:srgbClr val="111111"/>
                </a:solidFill>
                <a:highlight>
                  <a:srgbClr val="FFFFFE"/>
                </a:highlight>
                <a:latin typeface="Times New Roman"/>
                <a:ea typeface="Times New Roman"/>
                <a:cs typeface="Times New Roman"/>
                <a:sym typeface="Times New Roman"/>
              </a:rPr>
              <a:t>In the p</a:t>
            </a:r>
            <a:r>
              <a:rPr lang="en" sz="1900">
                <a:solidFill>
                  <a:srgbClr val="111111"/>
                </a:solidFill>
                <a:highlight>
                  <a:srgbClr val="FFFFFE"/>
                </a:highlight>
                <a:latin typeface="Times New Roman"/>
                <a:ea typeface="Times New Roman"/>
                <a:cs typeface="Times New Roman"/>
                <a:sym typeface="Times New Roman"/>
              </a:rPr>
              <a:t>roposed system for regression</a:t>
            </a:r>
            <a:r>
              <a:rPr lang="en" sz="1900">
                <a:solidFill>
                  <a:srgbClr val="111111"/>
                </a:solidFill>
                <a:highlight>
                  <a:srgbClr val="FFFFFE"/>
                </a:highlight>
                <a:latin typeface="Times New Roman"/>
                <a:ea typeface="Times New Roman"/>
                <a:cs typeface="Times New Roman"/>
                <a:sym typeface="Times New Roman"/>
              </a:rPr>
              <a:t>, LSTM layer </a:t>
            </a:r>
            <a:r>
              <a:rPr lang="en" sz="1900">
                <a:solidFill>
                  <a:srgbClr val="111111"/>
                </a:solidFill>
                <a:highlight>
                  <a:srgbClr val="FFFFFE"/>
                </a:highlight>
                <a:latin typeface="Times New Roman"/>
                <a:ea typeface="Times New Roman"/>
                <a:cs typeface="Times New Roman"/>
                <a:sym typeface="Times New Roman"/>
              </a:rPr>
              <a:t>with 100 units</a:t>
            </a:r>
            <a:r>
              <a:rPr lang="en" sz="1900">
                <a:solidFill>
                  <a:srgbClr val="111111"/>
                </a:solidFill>
                <a:highlight>
                  <a:srgbClr val="FFFFFE"/>
                </a:highlight>
                <a:latin typeface="Times New Roman"/>
                <a:ea typeface="Times New Roman"/>
                <a:cs typeface="Times New Roman"/>
                <a:sym typeface="Times New Roman"/>
              </a:rPr>
              <a:t> is used for the first layer to process the input data</a:t>
            </a:r>
            <a:endParaRPr sz="1900">
              <a:solidFill>
                <a:srgbClr val="111111"/>
              </a:solidFill>
              <a:highlight>
                <a:srgbClr val="FFFFFE"/>
              </a:highlight>
              <a:latin typeface="Times New Roman"/>
              <a:ea typeface="Times New Roman"/>
              <a:cs typeface="Times New Roman"/>
              <a:sym typeface="Times New Roman"/>
            </a:endParaRPr>
          </a:p>
          <a:p>
            <a:pPr indent="-349250" lvl="0" marL="457200" rtl="0" algn="just">
              <a:lnSpc>
                <a:spcPct val="150000"/>
              </a:lnSpc>
              <a:spcBef>
                <a:spcPts val="0"/>
              </a:spcBef>
              <a:spcAft>
                <a:spcPts val="0"/>
              </a:spcAft>
              <a:buClr>
                <a:srgbClr val="111111"/>
              </a:buClr>
              <a:buSzPts val="1900"/>
              <a:buFont typeface="Times New Roman"/>
              <a:buChar char="●"/>
            </a:pPr>
            <a:r>
              <a:rPr lang="en" sz="1900">
                <a:solidFill>
                  <a:srgbClr val="111111"/>
                </a:solidFill>
                <a:highlight>
                  <a:srgbClr val="FFFFFE"/>
                </a:highlight>
                <a:latin typeface="Times New Roman"/>
                <a:ea typeface="Times New Roman"/>
                <a:cs typeface="Times New Roman"/>
                <a:sym typeface="Times New Roman"/>
              </a:rPr>
              <a:t>Followed by another LSTM layer with 50 units. </a:t>
            </a:r>
            <a:endParaRPr sz="1900">
              <a:solidFill>
                <a:srgbClr val="111111"/>
              </a:solidFill>
              <a:highlight>
                <a:srgbClr val="FFFFFE"/>
              </a:highlight>
              <a:latin typeface="Times New Roman"/>
              <a:ea typeface="Times New Roman"/>
              <a:cs typeface="Times New Roman"/>
              <a:sym typeface="Times New Roman"/>
            </a:endParaRPr>
          </a:p>
          <a:p>
            <a:pPr indent="-349250" lvl="0" marL="457200" rtl="0" algn="just">
              <a:lnSpc>
                <a:spcPct val="150000"/>
              </a:lnSpc>
              <a:spcBef>
                <a:spcPts val="0"/>
              </a:spcBef>
              <a:spcAft>
                <a:spcPts val="0"/>
              </a:spcAft>
              <a:buClr>
                <a:srgbClr val="111111"/>
              </a:buClr>
              <a:buSzPts val="1900"/>
              <a:buFont typeface="Times New Roman"/>
              <a:buChar char="●"/>
            </a:pPr>
            <a:r>
              <a:rPr lang="en" sz="1900">
                <a:solidFill>
                  <a:srgbClr val="111111"/>
                </a:solidFill>
                <a:highlight>
                  <a:srgbClr val="FFFFFE"/>
                </a:highlight>
                <a:latin typeface="Times New Roman"/>
                <a:ea typeface="Times New Roman"/>
                <a:cs typeface="Times New Roman"/>
                <a:sym typeface="Times New Roman"/>
              </a:rPr>
              <a:t>Dropout layer with 0.2 is also applied after each LSTM layer to control overfitting. </a:t>
            </a:r>
            <a:endParaRPr sz="1900">
              <a:solidFill>
                <a:srgbClr val="111111"/>
              </a:solidFill>
              <a:highlight>
                <a:srgbClr val="FFFFFE"/>
              </a:highlight>
              <a:latin typeface="Times New Roman"/>
              <a:ea typeface="Times New Roman"/>
              <a:cs typeface="Times New Roman"/>
              <a:sym typeface="Times New Roman"/>
            </a:endParaRPr>
          </a:p>
          <a:p>
            <a:pPr indent="-349250" lvl="0" marL="457200" rtl="0" algn="just">
              <a:lnSpc>
                <a:spcPct val="150000"/>
              </a:lnSpc>
              <a:spcBef>
                <a:spcPts val="0"/>
              </a:spcBef>
              <a:spcAft>
                <a:spcPts val="0"/>
              </a:spcAft>
              <a:buClr>
                <a:srgbClr val="111111"/>
              </a:buClr>
              <a:buSzPts val="1900"/>
              <a:buFont typeface="Times New Roman"/>
              <a:buChar char="●"/>
            </a:pPr>
            <a:r>
              <a:rPr lang="en" sz="1900">
                <a:solidFill>
                  <a:srgbClr val="111111"/>
                </a:solidFill>
                <a:highlight>
                  <a:srgbClr val="FFFFFE"/>
                </a:highlight>
                <a:latin typeface="Times New Roman"/>
                <a:ea typeface="Times New Roman"/>
                <a:cs typeface="Times New Roman"/>
                <a:sym typeface="Times New Roman"/>
              </a:rPr>
              <a:t>Final layer is a Dense output layer with single unit and linear activation.</a:t>
            </a:r>
            <a:endParaRPr sz="1900">
              <a:solidFill>
                <a:srgbClr val="111111"/>
              </a:solidFill>
              <a:highlight>
                <a:srgbClr val="FFFFFE"/>
              </a:highlight>
              <a:latin typeface="Times New Roman"/>
              <a:ea typeface="Times New Roman"/>
              <a:cs typeface="Times New Roman"/>
              <a:sym typeface="Times New Roman"/>
            </a:endParaRPr>
          </a:p>
          <a:p>
            <a:pPr indent="0" lvl="0" marL="0" rtl="0" algn="just">
              <a:lnSpc>
                <a:spcPct val="150000"/>
              </a:lnSpc>
              <a:spcBef>
                <a:spcPts val="0"/>
              </a:spcBef>
              <a:spcAft>
                <a:spcPts val="0"/>
              </a:spcAft>
              <a:buNone/>
            </a:pPr>
            <a:r>
              <a:t/>
            </a:r>
            <a:endParaRPr sz="1900">
              <a:solidFill>
                <a:srgbClr val="11111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11bb50c3012_1_137"/>
          <p:cNvSpPr txBox="1"/>
          <p:nvPr>
            <p:ph type="title"/>
          </p:nvPr>
        </p:nvSpPr>
        <p:spPr>
          <a:xfrm>
            <a:off x="258950" y="234025"/>
            <a:ext cx="85206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400">
                <a:solidFill>
                  <a:srgbClr val="292929"/>
                </a:solidFill>
                <a:latin typeface="Times New Roman"/>
                <a:ea typeface="Times New Roman"/>
                <a:cs typeface="Times New Roman"/>
                <a:sym typeface="Times New Roman"/>
              </a:rPr>
              <a:t>IMPLEMENTATION</a:t>
            </a:r>
            <a:endParaRPr sz="2400">
              <a:solidFill>
                <a:srgbClr val="292929"/>
              </a:solidFill>
              <a:latin typeface="Times New Roman"/>
              <a:ea typeface="Times New Roman"/>
              <a:cs typeface="Times New Roman"/>
              <a:sym typeface="Times New Roman"/>
            </a:endParaRPr>
          </a:p>
        </p:txBody>
      </p:sp>
      <p:sp>
        <p:nvSpPr>
          <p:cNvPr id="177" name="Google Shape;177;g11bb50c3012_1_137"/>
          <p:cNvSpPr txBox="1"/>
          <p:nvPr>
            <p:ph idx="1" type="body"/>
          </p:nvPr>
        </p:nvSpPr>
        <p:spPr>
          <a:xfrm>
            <a:off x="91900" y="1266175"/>
            <a:ext cx="2712900" cy="3302700"/>
          </a:xfrm>
          <a:prstGeom prst="rect">
            <a:avLst/>
          </a:prstGeom>
        </p:spPr>
        <p:txBody>
          <a:bodyPr anchorCtr="0" anchor="t" bIns="91425" lIns="91425" spcFirstLastPara="1" rIns="91425" wrap="square" tIns="91425">
            <a:normAutofit/>
          </a:bodyPr>
          <a:lstStyle/>
          <a:p>
            <a:pPr indent="-349250" lvl="0" marL="457200" rtl="0" algn="l">
              <a:spcBef>
                <a:spcPts val="0"/>
              </a:spcBef>
              <a:spcAft>
                <a:spcPts val="0"/>
              </a:spcAft>
              <a:buClr>
                <a:srgbClr val="000000"/>
              </a:buClr>
              <a:buSzPts val="1900"/>
              <a:buFont typeface="Times New Roman"/>
              <a:buChar char="●"/>
            </a:pPr>
            <a:r>
              <a:rPr lang="en" sz="1900">
                <a:solidFill>
                  <a:srgbClr val="000000"/>
                </a:solidFill>
                <a:latin typeface="Times New Roman"/>
                <a:ea typeface="Times New Roman"/>
                <a:cs typeface="Times New Roman"/>
                <a:sym typeface="Times New Roman"/>
              </a:rPr>
              <a:t>Snippet of the LSTM algorithm </a:t>
            </a:r>
            <a:endParaRPr sz="1900">
              <a:solidFill>
                <a:srgbClr val="000000"/>
              </a:solidFill>
              <a:latin typeface="Times New Roman"/>
              <a:ea typeface="Times New Roman"/>
              <a:cs typeface="Times New Roman"/>
              <a:sym typeface="Times New Roman"/>
            </a:endParaRPr>
          </a:p>
        </p:txBody>
      </p:sp>
      <p:pic>
        <p:nvPicPr>
          <p:cNvPr id="178" name="Google Shape;178;g11bb50c3012_1_137"/>
          <p:cNvPicPr preferRelativeResize="0"/>
          <p:nvPr/>
        </p:nvPicPr>
        <p:blipFill>
          <a:blip r:embed="rId3">
            <a:alphaModFix/>
          </a:blip>
          <a:stretch>
            <a:fillRect/>
          </a:stretch>
        </p:blipFill>
        <p:spPr>
          <a:xfrm>
            <a:off x="3206950" y="900338"/>
            <a:ext cx="5778475" cy="40343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11bb50c3012_1_472"/>
          <p:cNvSpPr txBox="1"/>
          <p:nvPr>
            <p:ph type="title"/>
          </p:nvPr>
        </p:nvSpPr>
        <p:spPr>
          <a:xfrm>
            <a:off x="311700" y="243525"/>
            <a:ext cx="8520600" cy="477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2400">
                <a:solidFill>
                  <a:srgbClr val="000000"/>
                </a:solidFill>
                <a:latin typeface="Times New Roman"/>
                <a:ea typeface="Times New Roman"/>
                <a:cs typeface="Times New Roman"/>
                <a:sym typeface="Times New Roman"/>
              </a:rPr>
              <a:t>IMPLEMENTATION</a:t>
            </a:r>
            <a:endParaRPr sz="2400">
              <a:solidFill>
                <a:srgbClr val="000000"/>
              </a:solidFill>
              <a:latin typeface="Times New Roman"/>
              <a:ea typeface="Times New Roman"/>
              <a:cs typeface="Times New Roman"/>
              <a:sym typeface="Times New Roman"/>
            </a:endParaRPr>
          </a:p>
        </p:txBody>
      </p:sp>
      <p:graphicFrame>
        <p:nvGraphicFramePr>
          <p:cNvPr id="184" name="Google Shape;184;g11bb50c3012_1_472"/>
          <p:cNvGraphicFramePr/>
          <p:nvPr/>
        </p:nvGraphicFramePr>
        <p:xfrm>
          <a:off x="684388" y="1038690"/>
          <a:ext cx="3000000" cy="3000000"/>
        </p:xfrm>
        <a:graphic>
          <a:graphicData uri="http://schemas.openxmlformats.org/drawingml/2006/table">
            <a:tbl>
              <a:tblPr>
                <a:noFill/>
                <a:tableStyleId>{1639C0CA-00BE-4649-8AB1-6A30D48E9C79}</a:tableStyleId>
              </a:tblPr>
              <a:tblGrid>
                <a:gridCol w="2619200"/>
                <a:gridCol w="1997250"/>
                <a:gridCol w="2546900"/>
              </a:tblGrid>
              <a:tr h="1062875">
                <a:tc>
                  <a:txBody>
                    <a:bodyPr/>
                    <a:lstStyle/>
                    <a:p>
                      <a:pPr indent="0" lvl="0" marL="0" rtl="0" algn="ctr">
                        <a:spcBef>
                          <a:spcPts val="0"/>
                        </a:spcBef>
                        <a:spcAft>
                          <a:spcPts val="0"/>
                        </a:spcAft>
                        <a:buNone/>
                      </a:pPr>
                      <a:r>
                        <a:rPr b="1" lang="en" sz="1800">
                          <a:latin typeface="Times New Roman"/>
                          <a:ea typeface="Times New Roman"/>
                          <a:cs typeface="Times New Roman"/>
                          <a:sym typeface="Times New Roman"/>
                        </a:rPr>
                        <a:t>ALGORITHMS</a:t>
                      </a:r>
                      <a:endParaRPr b="1" sz="18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b="1" lang="en" sz="1800">
                          <a:latin typeface="Times New Roman"/>
                          <a:ea typeface="Times New Roman"/>
                          <a:cs typeface="Times New Roman"/>
                          <a:sym typeface="Times New Roman"/>
                        </a:rPr>
                        <a:t>MEAN ABSOLUTE ERROR(MAE)</a:t>
                      </a:r>
                      <a:endParaRPr b="1" sz="18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b="1" lang="en" sz="1800">
                          <a:latin typeface="Times New Roman"/>
                          <a:ea typeface="Times New Roman"/>
                          <a:cs typeface="Times New Roman"/>
                          <a:sym typeface="Times New Roman"/>
                        </a:rPr>
                        <a:t>RMSE</a:t>
                      </a:r>
                      <a:endParaRPr b="1" sz="1800">
                        <a:latin typeface="Times New Roman"/>
                        <a:ea typeface="Times New Roman"/>
                        <a:cs typeface="Times New Roman"/>
                        <a:sym typeface="Times New Roman"/>
                      </a:endParaRPr>
                    </a:p>
                  </a:txBody>
                  <a:tcPr marT="91425" marB="91425" marR="91425" marL="91425"/>
                </a:tc>
              </a:tr>
              <a:tr h="432225">
                <a:tc>
                  <a:txBody>
                    <a:bodyPr/>
                    <a:lstStyle/>
                    <a:p>
                      <a:pPr indent="0" lvl="0" marL="457200" rtl="0" algn="ctr">
                        <a:lnSpc>
                          <a:spcPct val="150000"/>
                        </a:lnSpc>
                        <a:spcBef>
                          <a:spcPts val="0"/>
                        </a:spcBef>
                        <a:spcAft>
                          <a:spcPts val="1200"/>
                        </a:spcAft>
                        <a:buNone/>
                      </a:pPr>
                      <a:r>
                        <a:rPr lang="en" sz="1800">
                          <a:solidFill>
                            <a:srgbClr val="292929"/>
                          </a:solidFill>
                          <a:latin typeface="Times New Roman"/>
                          <a:ea typeface="Times New Roman"/>
                          <a:cs typeface="Times New Roman"/>
                          <a:sym typeface="Times New Roman"/>
                        </a:rPr>
                        <a:t>LSTM</a:t>
                      </a:r>
                      <a:endParaRPr sz="18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800">
                          <a:latin typeface="Times New Roman"/>
                          <a:ea typeface="Times New Roman"/>
                          <a:cs typeface="Times New Roman"/>
                          <a:sym typeface="Times New Roman"/>
                        </a:rPr>
                        <a:t>12.77</a:t>
                      </a:r>
                      <a:endParaRPr sz="18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800">
                          <a:latin typeface="Times New Roman"/>
                          <a:ea typeface="Times New Roman"/>
                          <a:cs typeface="Times New Roman"/>
                          <a:sym typeface="Times New Roman"/>
                        </a:rPr>
                        <a:t>18.65</a:t>
                      </a:r>
                      <a:endParaRPr sz="1800">
                        <a:latin typeface="Times New Roman"/>
                        <a:ea typeface="Times New Roman"/>
                        <a:cs typeface="Times New Roman"/>
                        <a:sym typeface="Times New Roman"/>
                      </a:endParaRPr>
                    </a:p>
                  </a:txBody>
                  <a:tcPr marT="91425" marB="91425" marR="91425" marL="91425"/>
                </a:tc>
              </a:tr>
              <a:tr h="728200">
                <a:tc>
                  <a:txBody>
                    <a:bodyPr/>
                    <a:lstStyle/>
                    <a:p>
                      <a:pPr indent="0" lvl="0" marL="457200" rtl="0" algn="ctr">
                        <a:lnSpc>
                          <a:spcPct val="150000"/>
                        </a:lnSpc>
                        <a:spcBef>
                          <a:spcPts val="0"/>
                        </a:spcBef>
                        <a:spcAft>
                          <a:spcPts val="1200"/>
                        </a:spcAft>
                        <a:buNone/>
                      </a:pPr>
                      <a:r>
                        <a:rPr lang="en" sz="1800">
                          <a:solidFill>
                            <a:srgbClr val="292929"/>
                          </a:solidFill>
                          <a:latin typeface="Times New Roman"/>
                          <a:ea typeface="Times New Roman"/>
                          <a:cs typeface="Times New Roman"/>
                          <a:sym typeface="Times New Roman"/>
                        </a:rPr>
                        <a:t>Random forest</a:t>
                      </a:r>
                      <a:endParaRPr sz="18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800">
                          <a:latin typeface="Times New Roman"/>
                          <a:ea typeface="Times New Roman"/>
                          <a:cs typeface="Times New Roman"/>
                          <a:sym typeface="Times New Roman"/>
                        </a:rPr>
                        <a:t>23.17</a:t>
                      </a:r>
                      <a:endParaRPr sz="18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800">
                          <a:latin typeface="Times New Roman"/>
                          <a:ea typeface="Times New Roman"/>
                          <a:cs typeface="Times New Roman"/>
                          <a:sym typeface="Times New Roman"/>
                        </a:rPr>
                        <a:t>28.63</a:t>
                      </a:r>
                      <a:endParaRPr sz="1800">
                        <a:latin typeface="Times New Roman"/>
                        <a:ea typeface="Times New Roman"/>
                        <a:cs typeface="Times New Roman"/>
                        <a:sym typeface="Times New Roman"/>
                      </a:endParaRPr>
                    </a:p>
                  </a:txBody>
                  <a:tcPr marT="91425" marB="91425" marR="91425" marL="91425"/>
                </a:tc>
              </a:tr>
              <a:tr h="713625">
                <a:tc>
                  <a:txBody>
                    <a:bodyPr/>
                    <a:lstStyle/>
                    <a:p>
                      <a:pPr indent="0" lvl="0" marL="457200" rtl="0" algn="ctr">
                        <a:lnSpc>
                          <a:spcPct val="150000"/>
                        </a:lnSpc>
                        <a:spcBef>
                          <a:spcPts val="0"/>
                        </a:spcBef>
                        <a:spcAft>
                          <a:spcPts val="1200"/>
                        </a:spcAft>
                        <a:buNone/>
                      </a:pPr>
                      <a:r>
                        <a:rPr lang="en" sz="1800">
                          <a:solidFill>
                            <a:srgbClr val="292929"/>
                          </a:solidFill>
                          <a:latin typeface="Times New Roman"/>
                          <a:ea typeface="Times New Roman"/>
                          <a:cs typeface="Times New Roman"/>
                          <a:sym typeface="Times New Roman"/>
                        </a:rPr>
                        <a:t>Decision  Tree</a:t>
                      </a:r>
                      <a:endParaRPr sz="18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800">
                          <a:latin typeface="Times New Roman"/>
                          <a:ea typeface="Times New Roman"/>
                          <a:cs typeface="Times New Roman"/>
                          <a:sym typeface="Times New Roman"/>
                        </a:rPr>
                        <a:t>24.32</a:t>
                      </a:r>
                      <a:endParaRPr sz="18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800">
                          <a:latin typeface="Times New Roman"/>
                          <a:ea typeface="Times New Roman"/>
                          <a:cs typeface="Times New Roman"/>
                          <a:sym typeface="Times New Roman"/>
                        </a:rPr>
                        <a:t>32.09</a:t>
                      </a:r>
                      <a:endParaRPr sz="1800">
                        <a:latin typeface="Times New Roman"/>
                        <a:ea typeface="Times New Roman"/>
                        <a:cs typeface="Times New Roman"/>
                        <a:sym typeface="Times New Roman"/>
                      </a:endParaRPr>
                    </a:p>
                  </a:txBody>
                  <a:tcPr marT="91425" marB="91425" marR="91425" marL="91425"/>
                </a:tc>
              </a:tr>
              <a:tr h="932400">
                <a:tc>
                  <a:txBody>
                    <a:bodyPr/>
                    <a:lstStyle/>
                    <a:p>
                      <a:pPr indent="0" lvl="0" marL="457200" rtl="0" algn="ctr">
                        <a:lnSpc>
                          <a:spcPct val="150000"/>
                        </a:lnSpc>
                        <a:spcBef>
                          <a:spcPts val="0"/>
                        </a:spcBef>
                        <a:spcAft>
                          <a:spcPts val="1200"/>
                        </a:spcAft>
                        <a:buNone/>
                      </a:pPr>
                      <a:r>
                        <a:rPr lang="en" sz="1800">
                          <a:solidFill>
                            <a:srgbClr val="292929"/>
                          </a:solidFill>
                          <a:latin typeface="Times New Roman"/>
                          <a:ea typeface="Times New Roman"/>
                          <a:cs typeface="Times New Roman"/>
                          <a:sym typeface="Times New Roman"/>
                        </a:rPr>
                        <a:t>Multiple </a:t>
                      </a:r>
                      <a:r>
                        <a:rPr lang="en" sz="1800">
                          <a:solidFill>
                            <a:srgbClr val="292929"/>
                          </a:solidFill>
                          <a:latin typeface="Times New Roman"/>
                          <a:ea typeface="Times New Roman"/>
                          <a:cs typeface="Times New Roman"/>
                          <a:sym typeface="Times New Roman"/>
                        </a:rPr>
                        <a:t>Linear Regression</a:t>
                      </a:r>
                      <a:endParaRPr sz="18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800">
                          <a:latin typeface="Times New Roman"/>
                          <a:ea typeface="Times New Roman"/>
                          <a:cs typeface="Times New Roman"/>
                          <a:sym typeface="Times New Roman"/>
                        </a:rPr>
                        <a:t>25.59</a:t>
                      </a:r>
                      <a:endParaRPr sz="18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800">
                          <a:latin typeface="Times New Roman"/>
                          <a:ea typeface="Times New Roman"/>
                          <a:cs typeface="Times New Roman"/>
                          <a:sym typeface="Times New Roman"/>
                        </a:rPr>
                        <a:t>32.04</a:t>
                      </a:r>
                      <a:endParaRPr sz="1800">
                        <a:latin typeface="Times New Roman"/>
                        <a:ea typeface="Times New Roman"/>
                        <a:cs typeface="Times New Roman"/>
                        <a:sym typeface="Times New Roman"/>
                      </a:endParaRPr>
                    </a:p>
                  </a:txBody>
                  <a:tcPr marT="91425" marB="91425" marR="91425" marL="91425"/>
                </a:tc>
              </a:tr>
            </a:tbl>
          </a:graphicData>
        </a:graphic>
      </p:graphicFrame>
      <p:sp>
        <p:nvSpPr>
          <p:cNvPr id="185" name="Google Shape;185;g11bb50c3012_1_472"/>
          <p:cNvSpPr txBox="1"/>
          <p:nvPr/>
        </p:nvSpPr>
        <p:spPr>
          <a:xfrm>
            <a:off x="311700" y="606450"/>
            <a:ext cx="70701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Times New Roman"/>
                <a:ea typeface="Times New Roman"/>
                <a:cs typeface="Times New Roman"/>
                <a:sym typeface="Times New Roman"/>
              </a:rPr>
              <a:t>Comparison of different algorithms for RUL on dataset1</a:t>
            </a:r>
            <a:endParaRPr sz="1900">
              <a:latin typeface="Times New Roman"/>
              <a:ea typeface="Times New Roman"/>
              <a:cs typeface="Times New Roman"/>
              <a:sym typeface="Times New Roman"/>
            </a:endParaRPr>
          </a:p>
        </p:txBody>
      </p:sp>
      <p:sp>
        <p:nvSpPr>
          <p:cNvPr id="186" name="Google Shape;186;g11bb50c3012_1_472"/>
          <p:cNvSpPr txBox="1"/>
          <p:nvPr/>
        </p:nvSpPr>
        <p:spPr>
          <a:xfrm>
            <a:off x="7803025" y="1527250"/>
            <a:ext cx="5055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Open Sans"/>
              <a:ea typeface="Open Sans"/>
              <a:cs typeface="Open Sans"/>
              <a:sym typeface="Open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g12a35c36e4b_1_2"/>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0" lang="en" sz="2340">
                <a:solidFill>
                  <a:srgbClr val="111111"/>
                </a:solidFill>
                <a:latin typeface="Times New Roman"/>
                <a:ea typeface="Times New Roman"/>
                <a:cs typeface="Times New Roman"/>
                <a:sym typeface="Times New Roman"/>
              </a:rPr>
              <a:t>Base Paper Results for predicting RUL</a:t>
            </a:r>
            <a:endParaRPr b="0" sz="2340">
              <a:solidFill>
                <a:srgbClr val="111111"/>
              </a:solidFill>
              <a:latin typeface="Times New Roman"/>
              <a:ea typeface="Times New Roman"/>
              <a:cs typeface="Times New Roman"/>
              <a:sym typeface="Times New Roman"/>
            </a:endParaRPr>
          </a:p>
        </p:txBody>
      </p:sp>
      <p:sp>
        <p:nvSpPr>
          <p:cNvPr id="192" name="Google Shape;192;g12a35c36e4b_1_2"/>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pic>
        <p:nvPicPr>
          <p:cNvPr id="193" name="Google Shape;193;g12a35c36e4b_1_2"/>
          <p:cNvPicPr preferRelativeResize="0"/>
          <p:nvPr/>
        </p:nvPicPr>
        <p:blipFill>
          <a:blip r:embed="rId3">
            <a:alphaModFix/>
          </a:blip>
          <a:stretch>
            <a:fillRect/>
          </a:stretch>
        </p:blipFill>
        <p:spPr>
          <a:xfrm>
            <a:off x="416825" y="1695400"/>
            <a:ext cx="8415474" cy="22091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11bb50c3012_1_554"/>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400">
                <a:solidFill>
                  <a:srgbClr val="000000"/>
                </a:solidFill>
                <a:latin typeface="Times New Roman"/>
                <a:ea typeface="Times New Roman"/>
                <a:cs typeface="Times New Roman"/>
                <a:sym typeface="Times New Roman"/>
              </a:rPr>
              <a:t>IMPLEMENTATION</a:t>
            </a:r>
            <a:endParaRPr sz="2400">
              <a:solidFill>
                <a:srgbClr val="000000"/>
              </a:solidFill>
              <a:latin typeface="Times New Roman"/>
              <a:ea typeface="Times New Roman"/>
              <a:cs typeface="Times New Roman"/>
              <a:sym typeface="Times New Roman"/>
            </a:endParaRPr>
          </a:p>
        </p:txBody>
      </p:sp>
      <p:graphicFrame>
        <p:nvGraphicFramePr>
          <p:cNvPr id="199" name="Google Shape;199;g11bb50c3012_1_554"/>
          <p:cNvGraphicFramePr/>
          <p:nvPr/>
        </p:nvGraphicFramePr>
        <p:xfrm>
          <a:off x="540100" y="1585025"/>
          <a:ext cx="3000000" cy="3000000"/>
        </p:xfrm>
        <a:graphic>
          <a:graphicData uri="http://schemas.openxmlformats.org/drawingml/2006/table">
            <a:tbl>
              <a:tblPr>
                <a:noFill/>
                <a:tableStyleId>{1639C0CA-00BE-4649-8AB1-6A30D48E9C79}</a:tableStyleId>
              </a:tblPr>
              <a:tblGrid>
                <a:gridCol w="2418325"/>
                <a:gridCol w="3157475"/>
                <a:gridCol w="1840900"/>
              </a:tblGrid>
              <a:tr h="707350">
                <a:tc>
                  <a:txBody>
                    <a:bodyPr/>
                    <a:lstStyle/>
                    <a:p>
                      <a:pPr indent="0" lvl="0" marL="0" rtl="0" algn="ctr">
                        <a:spcBef>
                          <a:spcPts val="0"/>
                        </a:spcBef>
                        <a:spcAft>
                          <a:spcPts val="0"/>
                        </a:spcAft>
                        <a:buNone/>
                      </a:pPr>
                      <a:r>
                        <a:rPr b="1" lang="en" sz="1800">
                          <a:latin typeface="Times New Roman"/>
                          <a:ea typeface="Times New Roman"/>
                          <a:cs typeface="Times New Roman"/>
                          <a:sym typeface="Times New Roman"/>
                        </a:rPr>
                        <a:t>ALGORITHMS</a:t>
                      </a:r>
                      <a:endParaRPr b="1" sz="18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b="1" lang="en" sz="1800">
                          <a:latin typeface="Times New Roman"/>
                          <a:ea typeface="Times New Roman"/>
                          <a:cs typeface="Times New Roman"/>
                          <a:sym typeface="Times New Roman"/>
                        </a:rPr>
                        <a:t>MEAN ABSOLUTE ERROR(MAE)</a:t>
                      </a:r>
                      <a:endParaRPr b="1" sz="18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b="1" lang="en" sz="1800">
                          <a:latin typeface="Times New Roman"/>
                          <a:ea typeface="Times New Roman"/>
                          <a:cs typeface="Times New Roman"/>
                          <a:sym typeface="Times New Roman"/>
                        </a:rPr>
                        <a:t>RMSE</a:t>
                      </a:r>
                      <a:endParaRPr b="1" sz="1800">
                        <a:latin typeface="Times New Roman"/>
                        <a:ea typeface="Times New Roman"/>
                        <a:cs typeface="Times New Roman"/>
                        <a:sym typeface="Times New Roman"/>
                      </a:endParaRPr>
                    </a:p>
                  </a:txBody>
                  <a:tcPr marT="91425" marB="91425" marR="91425" marL="91425"/>
                </a:tc>
              </a:tr>
              <a:tr h="406750">
                <a:tc>
                  <a:txBody>
                    <a:bodyPr/>
                    <a:lstStyle/>
                    <a:p>
                      <a:pPr indent="0" lvl="0" marL="457200" rtl="0" algn="ctr">
                        <a:lnSpc>
                          <a:spcPct val="150000"/>
                        </a:lnSpc>
                        <a:spcBef>
                          <a:spcPts val="0"/>
                        </a:spcBef>
                        <a:spcAft>
                          <a:spcPts val="1200"/>
                        </a:spcAft>
                        <a:buNone/>
                      </a:pPr>
                      <a:r>
                        <a:rPr lang="en" sz="1800">
                          <a:solidFill>
                            <a:srgbClr val="292929"/>
                          </a:solidFill>
                          <a:latin typeface="Times New Roman"/>
                          <a:ea typeface="Times New Roman"/>
                          <a:cs typeface="Times New Roman"/>
                          <a:sym typeface="Times New Roman"/>
                        </a:rPr>
                        <a:t>LSTM</a:t>
                      </a:r>
                      <a:endParaRPr sz="18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800">
                          <a:latin typeface="Times New Roman"/>
                          <a:ea typeface="Times New Roman"/>
                          <a:cs typeface="Times New Roman"/>
                          <a:sym typeface="Times New Roman"/>
                        </a:rPr>
                        <a:t>20.1</a:t>
                      </a:r>
                      <a:endParaRPr sz="18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800">
                          <a:latin typeface="Times New Roman"/>
                          <a:ea typeface="Times New Roman"/>
                          <a:cs typeface="Times New Roman"/>
                          <a:sym typeface="Times New Roman"/>
                        </a:rPr>
                        <a:t>20.4</a:t>
                      </a:r>
                      <a:endParaRPr sz="1800">
                        <a:latin typeface="Times New Roman"/>
                        <a:ea typeface="Times New Roman"/>
                        <a:cs typeface="Times New Roman"/>
                        <a:sym typeface="Times New Roman"/>
                      </a:endParaRPr>
                    </a:p>
                  </a:txBody>
                  <a:tcPr marT="91425" marB="91425" marR="91425" marL="91425"/>
                </a:tc>
              </a:tr>
              <a:tr h="429775">
                <a:tc>
                  <a:txBody>
                    <a:bodyPr/>
                    <a:lstStyle/>
                    <a:p>
                      <a:pPr indent="0" lvl="0" marL="457200" rtl="0" algn="ctr">
                        <a:lnSpc>
                          <a:spcPct val="150000"/>
                        </a:lnSpc>
                        <a:spcBef>
                          <a:spcPts val="0"/>
                        </a:spcBef>
                        <a:spcAft>
                          <a:spcPts val="1200"/>
                        </a:spcAft>
                        <a:buNone/>
                      </a:pPr>
                      <a:r>
                        <a:rPr lang="en" sz="1800">
                          <a:solidFill>
                            <a:srgbClr val="292929"/>
                          </a:solidFill>
                          <a:latin typeface="Times New Roman"/>
                          <a:ea typeface="Times New Roman"/>
                          <a:cs typeface="Times New Roman"/>
                          <a:sym typeface="Times New Roman"/>
                        </a:rPr>
                        <a:t>Random forest</a:t>
                      </a:r>
                      <a:endParaRPr sz="18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800">
                          <a:latin typeface="Times New Roman"/>
                          <a:ea typeface="Times New Roman"/>
                          <a:cs typeface="Times New Roman"/>
                          <a:sym typeface="Times New Roman"/>
                        </a:rPr>
                        <a:t>25.0</a:t>
                      </a:r>
                      <a:endParaRPr sz="18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800">
                          <a:latin typeface="Times New Roman"/>
                          <a:ea typeface="Times New Roman"/>
                          <a:cs typeface="Times New Roman"/>
                          <a:sym typeface="Times New Roman"/>
                        </a:rPr>
                        <a:t>32.5</a:t>
                      </a:r>
                      <a:endParaRPr sz="1800">
                        <a:latin typeface="Times New Roman"/>
                        <a:ea typeface="Times New Roman"/>
                        <a:cs typeface="Times New Roman"/>
                        <a:sym typeface="Times New Roman"/>
                      </a:endParaRPr>
                    </a:p>
                  </a:txBody>
                  <a:tcPr marT="91425" marB="91425" marR="91425" marL="91425"/>
                </a:tc>
              </a:tr>
              <a:tr h="671550">
                <a:tc>
                  <a:txBody>
                    <a:bodyPr/>
                    <a:lstStyle/>
                    <a:p>
                      <a:pPr indent="0" lvl="0" marL="457200" rtl="0" algn="ctr">
                        <a:lnSpc>
                          <a:spcPct val="150000"/>
                        </a:lnSpc>
                        <a:spcBef>
                          <a:spcPts val="0"/>
                        </a:spcBef>
                        <a:spcAft>
                          <a:spcPts val="1200"/>
                        </a:spcAft>
                        <a:buNone/>
                      </a:pPr>
                      <a:r>
                        <a:rPr lang="en" sz="1800">
                          <a:latin typeface="Times New Roman"/>
                          <a:ea typeface="Times New Roman"/>
                          <a:cs typeface="Times New Roman"/>
                          <a:sym typeface="Times New Roman"/>
                        </a:rPr>
                        <a:t>Decision Tree</a:t>
                      </a:r>
                      <a:endParaRPr sz="18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800">
                          <a:latin typeface="Times New Roman"/>
                          <a:ea typeface="Times New Roman"/>
                          <a:cs typeface="Times New Roman"/>
                          <a:sym typeface="Times New Roman"/>
                        </a:rPr>
                        <a:t>26.3</a:t>
                      </a:r>
                      <a:endParaRPr sz="18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800">
                          <a:latin typeface="Times New Roman"/>
                          <a:ea typeface="Times New Roman"/>
                          <a:cs typeface="Times New Roman"/>
                          <a:sym typeface="Times New Roman"/>
                        </a:rPr>
                        <a:t>35.0</a:t>
                      </a:r>
                      <a:endParaRPr sz="1800">
                        <a:latin typeface="Times New Roman"/>
                        <a:ea typeface="Times New Roman"/>
                        <a:cs typeface="Times New Roman"/>
                        <a:sym typeface="Times New Roman"/>
                      </a:endParaRPr>
                    </a:p>
                  </a:txBody>
                  <a:tcPr marT="91425" marB="91425" marR="91425" marL="91425"/>
                </a:tc>
              </a:tr>
              <a:tr h="989650">
                <a:tc>
                  <a:txBody>
                    <a:bodyPr/>
                    <a:lstStyle/>
                    <a:p>
                      <a:pPr indent="0" lvl="0" marL="457200" rtl="0" algn="ctr">
                        <a:lnSpc>
                          <a:spcPct val="150000"/>
                        </a:lnSpc>
                        <a:spcBef>
                          <a:spcPts val="0"/>
                        </a:spcBef>
                        <a:spcAft>
                          <a:spcPts val="1200"/>
                        </a:spcAft>
                        <a:buNone/>
                      </a:pPr>
                      <a:r>
                        <a:rPr lang="en" sz="1800">
                          <a:solidFill>
                            <a:srgbClr val="292929"/>
                          </a:solidFill>
                          <a:latin typeface="Times New Roman"/>
                          <a:ea typeface="Times New Roman"/>
                          <a:cs typeface="Times New Roman"/>
                          <a:sym typeface="Times New Roman"/>
                        </a:rPr>
                        <a:t>Multiple </a:t>
                      </a:r>
                      <a:r>
                        <a:rPr lang="en" sz="1800">
                          <a:solidFill>
                            <a:srgbClr val="292929"/>
                          </a:solidFill>
                          <a:latin typeface="Times New Roman"/>
                          <a:ea typeface="Times New Roman"/>
                          <a:cs typeface="Times New Roman"/>
                          <a:sym typeface="Times New Roman"/>
                        </a:rPr>
                        <a:t>Linear Regression</a:t>
                      </a:r>
                      <a:endParaRPr sz="18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800">
                          <a:latin typeface="Times New Roman"/>
                          <a:ea typeface="Times New Roman"/>
                          <a:cs typeface="Times New Roman"/>
                          <a:sym typeface="Times New Roman"/>
                        </a:rPr>
                        <a:t>27.4</a:t>
                      </a:r>
                      <a:endParaRPr sz="18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800">
                          <a:latin typeface="Times New Roman"/>
                          <a:ea typeface="Times New Roman"/>
                          <a:cs typeface="Times New Roman"/>
                          <a:sym typeface="Times New Roman"/>
                        </a:rPr>
                        <a:t>33.9</a:t>
                      </a:r>
                      <a:endParaRPr sz="1800">
                        <a:latin typeface="Times New Roman"/>
                        <a:ea typeface="Times New Roman"/>
                        <a:cs typeface="Times New Roman"/>
                        <a:sym typeface="Times New Roman"/>
                      </a:endParaRPr>
                    </a:p>
                  </a:txBody>
                  <a:tcPr marT="91425" marB="91425" marR="91425" marL="91425"/>
                </a:tc>
              </a:tr>
            </a:tbl>
          </a:graphicData>
        </a:graphic>
      </p:graphicFrame>
      <p:sp>
        <p:nvSpPr>
          <p:cNvPr id="200" name="Google Shape;200;g11bb50c3012_1_554"/>
          <p:cNvSpPr txBox="1"/>
          <p:nvPr/>
        </p:nvSpPr>
        <p:spPr>
          <a:xfrm>
            <a:off x="311700" y="1001400"/>
            <a:ext cx="70701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Times New Roman"/>
                <a:ea typeface="Times New Roman"/>
                <a:cs typeface="Times New Roman"/>
                <a:sym typeface="Times New Roman"/>
              </a:rPr>
              <a:t>Comparison of different algorithms for RUL on dataset2</a:t>
            </a:r>
            <a:endParaRPr sz="1900">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g11bb50c3012_1_560"/>
          <p:cNvSpPr txBox="1"/>
          <p:nvPr>
            <p:ph type="title"/>
          </p:nvPr>
        </p:nvSpPr>
        <p:spPr>
          <a:xfrm>
            <a:off x="311700" y="488900"/>
            <a:ext cx="8520600" cy="582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000">
                <a:solidFill>
                  <a:srgbClr val="000000"/>
                </a:solidFill>
                <a:latin typeface="Times New Roman"/>
                <a:ea typeface="Times New Roman"/>
                <a:cs typeface="Times New Roman"/>
                <a:sym typeface="Times New Roman"/>
              </a:rPr>
              <a:t>Algorithms for predicting engine failure</a:t>
            </a:r>
            <a:endParaRPr b="0" sz="3700">
              <a:solidFill>
                <a:srgbClr val="111111"/>
              </a:solidFill>
              <a:latin typeface="Times New Roman"/>
              <a:ea typeface="Times New Roman"/>
              <a:cs typeface="Times New Roman"/>
              <a:sym typeface="Times New Roman"/>
            </a:endParaRPr>
          </a:p>
        </p:txBody>
      </p:sp>
      <p:sp>
        <p:nvSpPr>
          <p:cNvPr id="206" name="Google Shape;206;g11bb50c3012_1_560"/>
          <p:cNvSpPr txBox="1"/>
          <p:nvPr>
            <p:ph idx="1" type="body"/>
          </p:nvPr>
        </p:nvSpPr>
        <p:spPr>
          <a:xfrm>
            <a:off x="311700" y="1152425"/>
            <a:ext cx="8520600" cy="34167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lang="en">
                <a:solidFill>
                  <a:srgbClr val="111111"/>
                </a:solidFill>
                <a:latin typeface="Times New Roman"/>
                <a:ea typeface="Times New Roman"/>
                <a:cs typeface="Times New Roman"/>
                <a:sym typeface="Times New Roman"/>
              </a:rPr>
              <a:t>The following algorithm namely LSTM is implemented to  predict whether engine will fail or not.</a:t>
            </a:r>
            <a:endParaRPr>
              <a:solidFill>
                <a:srgbClr val="111111"/>
              </a:solidFill>
              <a:latin typeface="Times New Roman"/>
              <a:ea typeface="Times New Roman"/>
              <a:cs typeface="Times New Roman"/>
              <a:sym typeface="Times New Roman"/>
            </a:endParaRPr>
          </a:p>
          <a:p>
            <a:pPr indent="-342900" lvl="0" marL="457200" rtl="0" algn="just">
              <a:lnSpc>
                <a:spcPct val="150000"/>
              </a:lnSpc>
              <a:spcBef>
                <a:spcPts val="0"/>
              </a:spcBef>
              <a:spcAft>
                <a:spcPts val="0"/>
              </a:spcAft>
              <a:buClr>
                <a:srgbClr val="111111"/>
              </a:buClr>
              <a:buSzPts val="1800"/>
              <a:buChar char="●"/>
            </a:pPr>
            <a:r>
              <a:rPr b="1" lang="en">
                <a:solidFill>
                  <a:srgbClr val="111111"/>
                </a:solidFill>
                <a:latin typeface="Times New Roman"/>
                <a:ea typeface="Times New Roman"/>
                <a:cs typeface="Times New Roman"/>
                <a:sym typeface="Times New Roman"/>
              </a:rPr>
              <a:t>LSTM</a:t>
            </a:r>
            <a:r>
              <a:rPr lang="en">
                <a:solidFill>
                  <a:srgbClr val="111111"/>
                </a:solidFill>
                <a:latin typeface="Times New Roman"/>
                <a:ea typeface="Times New Roman"/>
                <a:cs typeface="Times New Roman"/>
                <a:sym typeface="Times New Roman"/>
              </a:rPr>
              <a:t>:</a:t>
            </a:r>
            <a:r>
              <a:rPr lang="en">
                <a:solidFill>
                  <a:srgbClr val="111111"/>
                </a:solidFill>
                <a:highlight>
                  <a:srgbClr val="FFFFFF"/>
                </a:highlight>
                <a:latin typeface="Times New Roman"/>
                <a:ea typeface="Times New Roman"/>
                <a:cs typeface="Times New Roman"/>
                <a:sym typeface="Times New Roman"/>
              </a:rPr>
              <a:t>Long short-term memory (LSTM) is a deep recurrent neural network architecture used for classification of time-series data.Recurrent Neural networks like LSTM generally have the problem of overfitting. Dropout can be applied between layers using the Dropout Keras layer.</a:t>
            </a:r>
            <a:endParaRPr>
              <a:solidFill>
                <a:srgbClr val="111111"/>
              </a:solidFill>
              <a:highlight>
                <a:srgbClr val="FFFFFF"/>
              </a:highlight>
              <a:latin typeface="Times New Roman"/>
              <a:ea typeface="Times New Roman"/>
              <a:cs typeface="Times New Roman"/>
              <a:sym typeface="Times New Roman"/>
            </a:endParaRPr>
          </a:p>
          <a:p>
            <a:pPr indent="0" lvl="0" marL="457200" rtl="0" algn="just">
              <a:lnSpc>
                <a:spcPct val="150000"/>
              </a:lnSpc>
              <a:spcBef>
                <a:spcPts val="0"/>
              </a:spcBef>
              <a:spcAft>
                <a:spcPts val="0"/>
              </a:spcAft>
              <a:buNone/>
            </a:pPr>
            <a:r>
              <a:t/>
            </a:r>
            <a:endParaRPr>
              <a:solidFill>
                <a:srgbClr val="111111"/>
              </a:solidFill>
              <a:highlight>
                <a:srgbClr val="FFFFFF"/>
              </a:highlight>
              <a:latin typeface="Times New Roman"/>
              <a:ea typeface="Times New Roman"/>
              <a:cs typeface="Times New Roman"/>
              <a:sym typeface="Times New Roman"/>
            </a:endParaRPr>
          </a:p>
          <a:p>
            <a:pPr indent="0" lvl="0" marL="0" rtl="0" algn="just">
              <a:lnSpc>
                <a:spcPct val="150000"/>
              </a:lnSpc>
              <a:spcBef>
                <a:spcPts val="0"/>
              </a:spcBef>
              <a:spcAft>
                <a:spcPts val="0"/>
              </a:spcAft>
              <a:buNone/>
            </a:pPr>
            <a:r>
              <a:t/>
            </a:r>
            <a:endParaRPr>
              <a:solidFill>
                <a:srgbClr val="11111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g128736c4954_0_2"/>
          <p:cNvSpPr txBox="1"/>
          <p:nvPr>
            <p:ph type="title"/>
          </p:nvPr>
        </p:nvSpPr>
        <p:spPr>
          <a:xfrm>
            <a:off x="235650" y="457225"/>
            <a:ext cx="85206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600">
                <a:solidFill>
                  <a:srgbClr val="111111"/>
                </a:solidFill>
                <a:latin typeface="Times New Roman"/>
                <a:ea typeface="Times New Roman"/>
                <a:cs typeface="Times New Roman"/>
                <a:sym typeface="Times New Roman"/>
              </a:rPr>
              <a:t>LSTM</a:t>
            </a:r>
            <a:endParaRPr sz="2600">
              <a:solidFill>
                <a:srgbClr val="111111"/>
              </a:solidFill>
              <a:latin typeface="Times New Roman"/>
              <a:ea typeface="Times New Roman"/>
              <a:cs typeface="Times New Roman"/>
              <a:sym typeface="Times New Roman"/>
            </a:endParaRPr>
          </a:p>
        </p:txBody>
      </p:sp>
      <p:sp>
        <p:nvSpPr>
          <p:cNvPr id="212" name="Google Shape;212;g128736c4954_0_2"/>
          <p:cNvSpPr txBox="1"/>
          <p:nvPr>
            <p:ph idx="1" type="body"/>
          </p:nvPr>
        </p:nvSpPr>
        <p:spPr>
          <a:xfrm>
            <a:off x="311700" y="1266325"/>
            <a:ext cx="8520600" cy="3302700"/>
          </a:xfrm>
          <a:prstGeom prst="rect">
            <a:avLst/>
          </a:prstGeom>
        </p:spPr>
        <p:txBody>
          <a:bodyPr anchorCtr="0" anchor="t" bIns="91425" lIns="91425" spcFirstLastPara="1" rIns="91425" wrap="square" tIns="91425">
            <a:noAutofit/>
          </a:bodyPr>
          <a:lstStyle/>
          <a:p>
            <a:pPr indent="-349250" lvl="0" marL="457200" rtl="0" algn="just">
              <a:lnSpc>
                <a:spcPct val="150000"/>
              </a:lnSpc>
              <a:spcBef>
                <a:spcPts val="0"/>
              </a:spcBef>
              <a:spcAft>
                <a:spcPts val="0"/>
              </a:spcAft>
              <a:buClr>
                <a:srgbClr val="111111"/>
              </a:buClr>
              <a:buSzPts val="1900"/>
              <a:buFont typeface="Times New Roman"/>
              <a:buChar char="●"/>
            </a:pPr>
            <a:r>
              <a:rPr lang="en" sz="1900">
                <a:solidFill>
                  <a:srgbClr val="111111"/>
                </a:solidFill>
                <a:highlight>
                  <a:srgbClr val="FFFFFE"/>
                </a:highlight>
                <a:latin typeface="Times New Roman"/>
                <a:ea typeface="Times New Roman"/>
                <a:cs typeface="Times New Roman"/>
                <a:sym typeface="Times New Roman"/>
              </a:rPr>
              <a:t>In the proposed system for classification,</a:t>
            </a:r>
            <a:r>
              <a:rPr lang="en" sz="1900">
                <a:solidFill>
                  <a:srgbClr val="111111"/>
                </a:solidFill>
                <a:highlight>
                  <a:srgbClr val="FFFFFF"/>
                </a:highlight>
                <a:latin typeface="Times New Roman"/>
                <a:ea typeface="Times New Roman"/>
                <a:cs typeface="Times New Roman"/>
                <a:sym typeface="Times New Roman"/>
              </a:rPr>
              <a:t>t</a:t>
            </a:r>
            <a:r>
              <a:rPr lang="en" sz="1900">
                <a:solidFill>
                  <a:srgbClr val="111111"/>
                </a:solidFill>
                <a:highlight>
                  <a:srgbClr val="FFFFFF"/>
                </a:highlight>
                <a:latin typeface="Times New Roman"/>
                <a:ea typeface="Times New Roman"/>
                <a:cs typeface="Times New Roman"/>
                <a:sym typeface="Times New Roman"/>
              </a:rPr>
              <a:t>he first layer is an LSTM layer with 100 units followed by another LSTM layer with 50 units.</a:t>
            </a:r>
            <a:endParaRPr sz="1900">
              <a:solidFill>
                <a:srgbClr val="111111"/>
              </a:solidFill>
              <a:highlight>
                <a:srgbClr val="FFFFFF"/>
              </a:highlight>
              <a:latin typeface="Times New Roman"/>
              <a:ea typeface="Times New Roman"/>
              <a:cs typeface="Times New Roman"/>
              <a:sym typeface="Times New Roman"/>
            </a:endParaRPr>
          </a:p>
          <a:p>
            <a:pPr indent="-349250" lvl="0" marL="457200" rtl="0" algn="just">
              <a:lnSpc>
                <a:spcPct val="150000"/>
              </a:lnSpc>
              <a:spcBef>
                <a:spcPts val="0"/>
              </a:spcBef>
              <a:spcAft>
                <a:spcPts val="0"/>
              </a:spcAft>
              <a:buClr>
                <a:srgbClr val="111111"/>
              </a:buClr>
              <a:buSzPts val="1900"/>
              <a:buFont typeface="Times New Roman"/>
              <a:buChar char="●"/>
            </a:pPr>
            <a:r>
              <a:rPr lang="en" sz="1900">
                <a:solidFill>
                  <a:srgbClr val="111111"/>
                </a:solidFill>
                <a:highlight>
                  <a:srgbClr val="FFFFFF"/>
                </a:highlight>
                <a:latin typeface="Times New Roman"/>
                <a:ea typeface="Times New Roman"/>
                <a:cs typeface="Times New Roman"/>
                <a:sym typeface="Times New Roman"/>
              </a:rPr>
              <a:t>Dropout is also applied after each LSTM layer to control overfitting.</a:t>
            </a:r>
            <a:endParaRPr sz="1900">
              <a:solidFill>
                <a:srgbClr val="111111"/>
              </a:solidFill>
              <a:highlight>
                <a:srgbClr val="FFFFFF"/>
              </a:highlight>
              <a:latin typeface="Times New Roman"/>
              <a:ea typeface="Times New Roman"/>
              <a:cs typeface="Times New Roman"/>
              <a:sym typeface="Times New Roman"/>
            </a:endParaRPr>
          </a:p>
          <a:p>
            <a:pPr indent="-349250" lvl="0" marL="457200" rtl="0" algn="just">
              <a:lnSpc>
                <a:spcPct val="150000"/>
              </a:lnSpc>
              <a:spcBef>
                <a:spcPts val="0"/>
              </a:spcBef>
              <a:spcAft>
                <a:spcPts val="0"/>
              </a:spcAft>
              <a:buClr>
                <a:srgbClr val="111111"/>
              </a:buClr>
              <a:buSzPts val="1900"/>
              <a:buFont typeface="Times New Roman"/>
              <a:buChar char="●"/>
            </a:pPr>
            <a:r>
              <a:rPr lang="en" sz="1900">
                <a:solidFill>
                  <a:srgbClr val="111111"/>
                </a:solidFill>
                <a:highlight>
                  <a:srgbClr val="FFFFFF"/>
                </a:highlight>
                <a:latin typeface="Times New Roman"/>
                <a:ea typeface="Times New Roman"/>
                <a:cs typeface="Times New Roman"/>
                <a:sym typeface="Times New Roman"/>
              </a:rPr>
              <a:t>Final layer is a Dense output layer with single unit and sigmoid activation since this is a binary classification problem.</a:t>
            </a:r>
            <a:endParaRPr sz="1900">
              <a:solidFill>
                <a:srgbClr val="111111"/>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g12834b5596b_0_5"/>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400">
                <a:solidFill>
                  <a:srgbClr val="000000"/>
                </a:solidFill>
                <a:latin typeface="Times New Roman"/>
                <a:ea typeface="Times New Roman"/>
                <a:cs typeface="Times New Roman"/>
                <a:sym typeface="Times New Roman"/>
              </a:rPr>
              <a:t>IMPLEMENTATION</a:t>
            </a:r>
            <a:endParaRPr sz="2400"/>
          </a:p>
        </p:txBody>
      </p:sp>
      <p:sp>
        <p:nvSpPr>
          <p:cNvPr id="218" name="Google Shape;218;g12834b5596b_0_5"/>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349250" lvl="0" marL="457200" rtl="0" algn="l">
              <a:spcBef>
                <a:spcPts val="0"/>
              </a:spcBef>
              <a:spcAft>
                <a:spcPts val="0"/>
              </a:spcAft>
              <a:buClr>
                <a:srgbClr val="000000"/>
              </a:buClr>
              <a:buSzPts val="1900"/>
              <a:buFont typeface="Times New Roman"/>
              <a:buChar char="●"/>
            </a:pPr>
            <a:r>
              <a:rPr lang="en" sz="1900">
                <a:solidFill>
                  <a:srgbClr val="000000"/>
                </a:solidFill>
                <a:latin typeface="Times New Roman"/>
                <a:ea typeface="Times New Roman"/>
                <a:cs typeface="Times New Roman"/>
                <a:sym typeface="Times New Roman"/>
              </a:rPr>
              <a:t>Snippet of the LSTM algorithm</a:t>
            </a:r>
            <a:endParaRPr>
              <a:solidFill>
                <a:srgbClr val="111111"/>
              </a:solidFill>
              <a:latin typeface="Times New Roman"/>
              <a:ea typeface="Times New Roman"/>
              <a:cs typeface="Times New Roman"/>
              <a:sym typeface="Times New Roman"/>
            </a:endParaRPr>
          </a:p>
        </p:txBody>
      </p:sp>
      <p:pic>
        <p:nvPicPr>
          <p:cNvPr id="219" name="Google Shape;219;g12834b5596b_0_5"/>
          <p:cNvPicPr preferRelativeResize="0"/>
          <p:nvPr/>
        </p:nvPicPr>
        <p:blipFill>
          <a:blip r:embed="rId3">
            <a:alphaModFix/>
          </a:blip>
          <a:stretch>
            <a:fillRect/>
          </a:stretch>
        </p:blipFill>
        <p:spPr>
          <a:xfrm>
            <a:off x="714375" y="2006788"/>
            <a:ext cx="7715250" cy="25622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g12834b5596b_0_10"/>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400">
                <a:solidFill>
                  <a:srgbClr val="000000"/>
                </a:solidFill>
                <a:latin typeface="Times New Roman"/>
                <a:ea typeface="Times New Roman"/>
                <a:cs typeface="Times New Roman"/>
                <a:sym typeface="Times New Roman"/>
              </a:rPr>
              <a:t>IMPLEMENTATION</a:t>
            </a:r>
            <a:endParaRPr sz="2400"/>
          </a:p>
        </p:txBody>
      </p:sp>
      <p:sp>
        <p:nvSpPr>
          <p:cNvPr id="225" name="Google Shape;225;g12834b5596b_0_10"/>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349250" lvl="0" marL="457200" rtl="0" algn="l">
              <a:spcBef>
                <a:spcPts val="0"/>
              </a:spcBef>
              <a:spcAft>
                <a:spcPts val="0"/>
              </a:spcAft>
              <a:buClr>
                <a:srgbClr val="111111"/>
              </a:buClr>
              <a:buSzPts val="1900"/>
              <a:buFont typeface="Times New Roman"/>
              <a:buChar char="●"/>
            </a:pPr>
            <a:r>
              <a:rPr lang="en" sz="1900">
                <a:solidFill>
                  <a:srgbClr val="111111"/>
                </a:solidFill>
                <a:latin typeface="Times New Roman"/>
                <a:ea typeface="Times New Roman"/>
                <a:cs typeface="Times New Roman"/>
                <a:sym typeface="Times New Roman"/>
              </a:rPr>
              <a:t>Output of LSTM Algorithm</a:t>
            </a:r>
            <a:endParaRPr>
              <a:solidFill>
                <a:srgbClr val="111111"/>
              </a:solidFill>
              <a:latin typeface="Times New Roman"/>
              <a:ea typeface="Times New Roman"/>
              <a:cs typeface="Times New Roman"/>
              <a:sym typeface="Times New Roman"/>
            </a:endParaRPr>
          </a:p>
        </p:txBody>
      </p:sp>
      <p:pic>
        <p:nvPicPr>
          <p:cNvPr id="226" name="Google Shape;226;g12834b5596b_0_10"/>
          <p:cNvPicPr preferRelativeResize="0"/>
          <p:nvPr/>
        </p:nvPicPr>
        <p:blipFill>
          <a:blip r:embed="rId3">
            <a:alphaModFix/>
          </a:blip>
          <a:stretch>
            <a:fillRect/>
          </a:stretch>
        </p:blipFill>
        <p:spPr>
          <a:xfrm>
            <a:off x="1118600" y="2056526"/>
            <a:ext cx="6305550" cy="19762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2"/>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990"/>
              <a:buNone/>
            </a:pPr>
            <a:r>
              <a:rPr lang="en" sz="2600">
                <a:solidFill>
                  <a:srgbClr val="000000"/>
                </a:solidFill>
                <a:latin typeface="Times New Roman"/>
                <a:ea typeface="Times New Roman"/>
                <a:cs typeface="Times New Roman"/>
                <a:sym typeface="Times New Roman"/>
              </a:rPr>
              <a:t>CONCLUSION</a:t>
            </a:r>
            <a:endParaRPr sz="2640"/>
          </a:p>
        </p:txBody>
      </p:sp>
      <p:sp>
        <p:nvSpPr>
          <p:cNvPr id="232" name="Google Shape;232;p12"/>
          <p:cNvSpPr txBox="1"/>
          <p:nvPr>
            <p:ph idx="1" type="body"/>
          </p:nvPr>
        </p:nvSpPr>
        <p:spPr>
          <a:xfrm>
            <a:off x="311700" y="1152425"/>
            <a:ext cx="8520600" cy="3565800"/>
          </a:xfrm>
          <a:prstGeom prst="rect">
            <a:avLst/>
          </a:prstGeom>
          <a:noFill/>
          <a:ln>
            <a:noFill/>
          </a:ln>
        </p:spPr>
        <p:txBody>
          <a:bodyPr anchorCtr="0" anchor="t" bIns="91425" lIns="91425" spcFirstLastPara="1" rIns="91425" wrap="square" tIns="91425">
            <a:noAutofit/>
          </a:bodyPr>
          <a:lstStyle/>
          <a:p>
            <a:pPr indent="-349250" lvl="0" marL="457200" rtl="0" algn="just">
              <a:lnSpc>
                <a:spcPct val="150000"/>
              </a:lnSpc>
              <a:spcBef>
                <a:spcPts val="0"/>
              </a:spcBef>
              <a:spcAft>
                <a:spcPts val="0"/>
              </a:spcAft>
              <a:buClr>
                <a:srgbClr val="292929"/>
              </a:buClr>
              <a:buSzPts val="1900"/>
              <a:buFont typeface="Times New Roman"/>
              <a:buChar char="●"/>
            </a:pPr>
            <a:r>
              <a:rPr lang="en" sz="1900">
                <a:solidFill>
                  <a:srgbClr val="292929"/>
                </a:solidFill>
                <a:highlight>
                  <a:srgbClr val="FFFFFF"/>
                </a:highlight>
                <a:latin typeface="Times New Roman"/>
                <a:ea typeface="Times New Roman"/>
                <a:cs typeface="Times New Roman"/>
                <a:sym typeface="Times New Roman"/>
              </a:rPr>
              <a:t>Predictive Maintenance of Aircraft Engines detects the anomalies and failure patterns and provides early warnings.</a:t>
            </a:r>
            <a:endParaRPr sz="1900">
              <a:solidFill>
                <a:srgbClr val="292929"/>
              </a:solidFill>
              <a:highlight>
                <a:srgbClr val="FFFFFF"/>
              </a:highlight>
              <a:latin typeface="Times New Roman"/>
              <a:ea typeface="Times New Roman"/>
              <a:cs typeface="Times New Roman"/>
              <a:sym typeface="Times New Roman"/>
            </a:endParaRPr>
          </a:p>
          <a:p>
            <a:pPr indent="-349250" lvl="0" marL="457200" rtl="0" algn="just">
              <a:lnSpc>
                <a:spcPct val="150000"/>
              </a:lnSpc>
              <a:spcBef>
                <a:spcPts val="0"/>
              </a:spcBef>
              <a:spcAft>
                <a:spcPts val="0"/>
              </a:spcAft>
              <a:buClr>
                <a:srgbClr val="292929"/>
              </a:buClr>
              <a:buSzPts val="1900"/>
              <a:buFont typeface="Times New Roman"/>
              <a:buChar char="●"/>
            </a:pPr>
            <a:r>
              <a:rPr lang="en" sz="1900">
                <a:solidFill>
                  <a:srgbClr val="292929"/>
                </a:solidFill>
                <a:highlight>
                  <a:srgbClr val="FFFFFF"/>
                </a:highlight>
                <a:latin typeface="Times New Roman"/>
                <a:ea typeface="Times New Roman"/>
                <a:cs typeface="Times New Roman"/>
                <a:sym typeface="Times New Roman"/>
              </a:rPr>
              <a:t>By applying machine learning algorithms to historical dataset of engines,the project can predict rul and engine fails or not for aircraft engines.</a:t>
            </a:r>
            <a:endParaRPr sz="1900">
              <a:solidFill>
                <a:srgbClr val="292929"/>
              </a:solidFill>
              <a:highlight>
                <a:srgbClr val="FFFFFF"/>
              </a:highlight>
              <a:latin typeface="Times New Roman"/>
              <a:ea typeface="Times New Roman"/>
              <a:cs typeface="Times New Roman"/>
              <a:sym typeface="Times New Roman"/>
            </a:endParaRPr>
          </a:p>
          <a:p>
            <a:pPr indent="-349250" lvl="0" marL="457200" rtl="0" algn="just">
              <a:lnSpc>
                <a:spcPct val="150000"/>
              </a:lnSpc>
              <a:spcBef>
                <a:spcPts val="0"/>
              </a:spcBef>
              <a:spcAft>
                <a:spcPts val="0"/>
              </a:spcAft>
              <a:buClr>
                <a:srgbClr val="292929"/>
              </a:buClr>
              <a:buSzPts val="1900"/>
              <a:buFont typeface="Times New Roman"/>
              <a:buChar char="●"/>
            </a:pPr>
            <a:r>
              <a:rPr lang="en" sz="1900">
                <a:solidFill>
                  <a:srgbClr val="292929"/>
                </a:solidFill>
                <a:latin typeface="Times New Roman"/>
                <a:ea typeface="Times New Roman"/>
                <a:cs typeface="Times New Roman"/>
                <a:sym typeface="Times New Roman"/>
              </a:rPr>
              <a:t>Among various </a:t>
            </a:r>
            <a:r>
              <a:rPr lang="en" sz="1900">
                <a:solidFill>
                  <a:srgbClr val="292929"/>
                </a:solidFill>
                <a:latin typeface="Times New Roman"/>
                <a:ea typeface="Times New Roman"/>
                <a:cs typeface="Times New Roman"/>
                <a:sym typeface="Times New Roman"/>
              </a:rPr>
              <a:t>algorithms applied on the datasets Long Short Term Memory(LSTM) has given better results for MAE,RMSE and accuracy for predicting RUL and engine failure respectively.</a:t>
            </a:r>
            <a:endParaRPr sz="1900">
              <a:solidFill>
                <a:srgbClr val="292929"/>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